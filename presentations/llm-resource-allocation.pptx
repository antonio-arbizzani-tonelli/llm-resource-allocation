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The allocator chooses model deployments and routes demand across heterogeneous GPU options while meeting budget, capacity and service-level constraints. This project implements and verifies that allocation software, then measures its CPU runtime. The formulation and the GH/AGH algorithms are by Cheng and Nguyen (arXiv:2604.07472, v2 as the main source, v1 for the explicit operational LP); the implementation, explicit unit conventions, independent validation, C++20 port and measurements are this project's work. All experiments run on CPU with synthetic inputs; GPU capacity and latency are modeled coefficients. Every number in the deck is pinned to public commit 80a9625ab62a3c5c70ede7a9dae97a61158e250a, whose numerical payload matches checkpoint 543ad4e; the last appendix slide lists the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headline numbers, each with its denominator and limit. 63/63: retained cross-language suite (benchmarks/portfolio/raw/serial/parity.json: passed, total, sum of cases[*].compared_numeric_values = 3,023 with zero bitwise_difference_count). 120.54x: matched WP1 runtime, AGH 16x4x4 load 200, ratio of medians Python/C++ at the core timer, 95% CI [109.7530, 131.2151], ten paired rounds; complete invocation 99.7005 [93.2556, 107.2592] (benchmarks/matched_runtime_2026-10-14/analysis/analysis.json, rows case=16x4x4_load200_agh). The implementations have different preparation and trace costs, so this is not a language-only speedup. 4.02x: WP2, key 8_cores_close_dynamic_1_False_None against its own one-thread control, 95% CI [3.7636, 4.4243], efficiency 50.28%, 30 paired core rounds (benchmarks/openmp_diagnostics_2026-10-14/analysis/extension.json). 1.94: WP5 query fit for AGH, 1.9402 [1.9254, 1.9600]; GH 1.6615 [1.6402, 1.6798] (benchmarks/instance_scaling_2026-10-14/analysis/analysis.json, fits family=query). "About 3.8x per doubling" is 2 to the power 1.9402 = 3.84, a reading of the fit within the measured range only. All sources at commit 80a9625.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allocator decides which models to deploy on which GPU options, with which tensor/pipeline configuration, and how to route each query type, under demand, budget, capacity and service-level constraints. GPU resources are modeled inputs; no GPU cluster was measured. This slide makes no numerical claim. Source: docs/MODEL.md, opening and "Stage 1: choose a deployment", at commit 80a9625; paper v2 https://arxiv.org/abs/2604.07472v2 and v1 https://arxiv.org/abs/2604.07472v1.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solves the deterministic problem, either exactly as the P_DM MILP or with the GH/AGH heuristics, and chooses the deployment and nominal routing. Stage 2 keeps the deployment fixed and minimizes C4+C5 under a supplied realized scenario; the explicit operational LP comes from paper v1, Eq. (12a)-(12f). Coherent KV, resident-data and period-cost conventions are documented project choices (docs/UNITS.md, Appendix A1), not conversion factors printed in the paper. Sources: docs/MODEL.md "Stage 1", "Physical units and explicit assumptions" and "Stage 2", commit 80a9625. Formulation: Cheng and Nguyen, arXiv:2604.07472 v2 and 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implements the reference algorithms and the independent scientific checks. Pyomo builds the Stage-1 P_DM MILP and the Stage-2 LP for a configured solver backend (HiGHS by default in the examples, Gurobi optional with its own license). GH/AGH orchestration is ordinary Python on plain domain records, not Pyomo optimization. Extracted decisions become plain data; normalization never rebalances demand, repairs auxiliary products or adjusts a decision to pass constraints. Completion, constraint feasibility, objective agreement and solver termination are reported separately. Sources at commit 80a9625: docs/ARCHITECTURE.md "From problem data to accepted decisions"; src/llm_resource_allocation/optimization/pyomo_pdm.py, pyomo_stage2.py, pdm_run.py, stage2_run.py; src/llm_resource_allocation/validation/placement.py and stage2.py.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native code covers Stage-1 GH and AGH, their costs, traces and validation, not every Python component. Problem::prepare() validates external input and derives configuration indices; placements own routing, admission, deployment, unmet, configuration, GPU-count and auxiliary-product decisions, and the validator uses them all directly. Stable ties, canonical scans, seeded shuffles, first acceptance and early stopping are part of reproducibility; C++ preserves Python's floating summation conventions and disables floating contraction and fast-math. OpenMP sits only at the experiment-scheduling layer: each worker gets an independent prepared problem, options, seed and result slot, and each solve keeps its serial acceptance and stopping sequence. Native exact optimization and native Stage 2 remain future work. Sources at commit 80a9625: cpp/README.md, cpp/src/gh.cpp, agh.cpp, core.cpp, campaign.cpp; docs/ARCHITECTURE.md "State, ordering, and numerical policy" and "Where parallelism belongs".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 first, measure second. Source at commit 80a9625: benchmarks/portfolio/raw/serial/parity.json, top-level passed=63 and total=63; summing cases[*].compared_numeric_values over the numeric-comparison cases gives 3,023, with zero bitwise_difference_count. The 15 seeded-shuffle cases belong to the 63 but carry no final-numeric field. docs/VALIDATION.md "Checks performed before publication" explains the checkpoint. These are synthetic checks. The separate October 13 campaign (16 full comparisons, 185,832 bit-identical values) is a different count and is not added to this one (Appendix A7). The two historical AGH Python references that raised MemoryError have no Python timing and no full algorithm parity. In the WP5 scaling study (benchmarks/instance_scaling_2026-10-14/analysis/analysis.json, points[*].verification_mode), full Python parity covers the 20 points at I=16 and 32; the other 70 have independent final-decision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at commit 80a9625: benchmarks/matched_runtime_2026-10-14/analysis/analysis.json, rows with case="16x4x4_load200_agh", boundary="core" and boundary="invocation" read separately; fields python.median_seconds, cpp.median_seconds and ratio.{ratio_of_medians, ci95_low, ci95_high}. Core: 120.5437, 95% CI [109.7530, 131.2151], medians Python 8.425024 s and C++ 0.069892 s. Invocation: 99.7005 [93.2556, 107.2592], medians 9.883960 s and 0.099137 s. AGH seed 37, beta 0.8. The core timer covers a fresh public solve, traces and internal validation, excluding startup, parsing, projection/output and destruction; same-process warmup excluded. Python validates input and prepares problem data inside the core call; C++ receives a prepared lattice before timing. Invocation is a separate Linux subprocess from startup through exit, with no in-process warmup. The two boundaries are separate paired samples and are never mixed. A median of paired ratios (117.83 core, 102.42 invocation) is a different estimator. Campaign coverage: 480/480 verified worker calls across 12 GH/AGH configurations (status.json); the full per-configuration plots are analysis/core_ratios.png and invocation_ratios.png. The historical 103.93x figure (Windows Python vs WSL C++, different timers) keeps its own scope and is not this result. Conditions: docs/EXTENSION_ENVIRONMENT.md.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at commit 80a9625: benchmarks/instance_scaling_2026-10-14/analysis/analysis.json, fits where family="query" and method="gh" or "agh", fields fit.{exponent, ci95_exponent_low, ci95_exponent_high, r_squared_log_space, predicted}; per-instance medians in analysis/instance_timings.csv. The chart is redrawn from those two files for legibility (the repository's analysis/query_scaling.png shows the same data, colored by seed). Query levels 16/32/64/128/256/384 at J=K=4; instance seeds 11/23/37/41/53, separate from AGH seed 37. The statistical input is each instance's median of three native core solves; intervals resample five complete seed clusters (10,000 draws, seed 20261014) holding those medians fixed. "Per doubling" is 2 to the power of the fitted slope (2^1.6615 = 3.16, 2^1.9402 = 3.84), a reading of the fit within the measured range only. Core includes native traces and validation and excludes startup, parsing, output and destruction. Coverage: 90/90 method/instance points and 270/270 samples, all independently feasible; full Python parity covers the 20 points at I=16 and 32 only. Not an asymptotic complexity claim, no extrapolation. Larger menus: Appendix A2.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at commit 80a9625: benchmarks/openmp_diagnostics_2026-10-14/analysis/extension.json, settings key "8_cores_close_dynamic_1_False_None", field speedup_vs_same_setting_one_thread.{ratio_of_medians, ci95_low, ci95_high} = 4.0223 [3.7636, 4.4243], valid_rounds=30; one-thread control key "1_cores_close_dynamic_1_False_None" (median 1.008776 s); eight-thread median 0.250794 s. Efficiency is the displayed speedup divided by eight. The chart is redrawn from the same file: keys "T_cores_close_S_1_False_None", with T the thread count from 1 to 16 and S one of static, dynamic or guided, 10,000 paired-round percentile resamples, seed 20261014; it shows the same series as the repository's plots/speedup.png. The core timer includes team creation and barriers and excludes parsing, output and warmup. This confirms a local throughput gain for the stated batch; the settings search is exploratory and a selected minimum is not an optimum. Physical P/E-core, cache, SMT and throttling causes remain unresolved in WSL (next slide). The older 18-round campaign (4.20x core, 2.27x invocation) keeps its own scope and is not combined with these thirty-round figures (Appendix A7). Native scheduling code: cpp/src/campaign.cpp.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explains 50% efficiency? Tested, not resolved. All 201 settings x 30 rotated rounds = 6,030/6,030 observations completed with matching compact projections and zero failures (factor-separable design; the full 585-setting interaction grid was skipped). At the eight-thread baseline the median wall-idle proxy is only 6.2262%, so 50.28% efficiency does not mean half the time idle; the Amdahl-equivalent serial fraction, 14.1272%, is a response-time fit, not measured serial code. Sixteen threads: 4.5536 [3.9406, 5.0207], 28.46% efficiency. Same-team controls divide the control median by the candidate median: sorting at 16 threads 1.0053 [0.9592, 1.1998], interval includes one; MALLOC_ARENA_MAX=1 at eight threads 0.08390 [0.07616, 0.08836] (candidate median 2.989136 s), so the restriction slows the workload; the lone above-one binding interval is cores/spread vs cores/close at four threads, 1.1377 [1.0703, 1.2643], exploratory. Intervals are unadjusted across many dependent comparisons. WSL cannot identify physical P/E cores or offer an SMT intervention; perf counters and frequency/temperature series are unavailable. Sources at commit 80a9625: benchmarks/openmp_diagnostics_2026-10-14/analysis/extension.json, same_team_controls.csv, thread_statistics.csv, decomposition.csv; docs/EXTENSION_REPORT.md "WP2".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points to evidence shown in the deck. The formulation and the GH/AGH algorithms are by Cheng and Nguyen; this project adds the verified implementation, the independent validator, the C++20 port with bitwise parity, matched runtime measurements, OpenMP diagnostics, the Stage-2 studies and the way limits and failures are reported. The release and ASan/UBSan checks, 63/63 parity cases and 1,131 Python tests with zero skips are the recorded WP8 verification at checkpoint 543ad4e (docs/KEY_NUMBERS.md "Verification scope"), historical results rather than tests rerun for this deck. The manifest count comes from docs/PUBLICATION_REVIEW.md and release-manifest.json; python scripts/prepare_release.py --check verifies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connecting each claim to its evidence rather than repeating a headline speedup. Implemented: the Python/Pyomo reference, serial C++20 GH/AGH, independent checks, OpenMP across experimental cases and the opt-in relative Stage-2 objective tolerance (docs/STAGE2_OBJECTIVE_POLICY.md; the default stays absolute 1e-8 USD, relative zero). Measured: local CPU runtime on retained synthetic inputs with explicit timer boundaries and verification coverage. Still open: author-data calibration (the paper's calibration is unavailable), native exact and Stage-2 integration, memory profiling (optional WP7 was skipped), a validated MPI implementation, and the physical causes of OpenMP efficiency loss. Local runtime ratios do not demonstrate GPU-serving acceleration or real cloud savings; heuristic results are not proven optima; the synthetic verification does not complete numerical replication of the paper's tables. Sources at commit 80a9625: docs/ARCHITECTURE.md "Where parallelism belongs"; docs/EXTENSION_REPORT.md "Interpretation and remaining limits"; docs/KEY_NUMBERS.md. The software is MIT-licensed; CITATION.cff asks to cite the software and, separately, Cheng and Nguyen.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Hours, seconds, milliseconds, KV concurrency and resident data each have an explicit boundary, converted once at the input boundary. Conversion constants live in a single module. Details are in docs/UNITS.md.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at commit 80a9625: benchmarks/instance_scaling_2026-10-14/analysis/analysis.json, fits where family="menu" and method="gh" or "agh"; per-instance medians in analysis/instance_timings.csv; the chart is redrawn from those files (the repository's analysis/menu_scaling.png shows the same data, colored by seed). Menus 4x4, 8x4, 8x8 and 12x12 at I=64, products 16/32/64/144; the 64x4x4 points are shared with the query study and measured once; 20/20 feasible points per method. Intervals resample five complete seed clusters, 10,000 draws, seed 20261014. Five clusters limit precision, and menu aspect ratios and structural branches confound a single product exponent: the fit does not establish a universal exponent for the product of menu dimensions. Descriptive over the measured range, no extrapolation.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at commit 80a9625: benchmarks/solver_quality_2026-10-14/analysis.json, rows 10x10x10_L1_agh, 10x10x10_L1_highs_20, _highs_120 and _highs_600; fields usable_objective_usd, accepted, solver_status, best_bound_usd and normalized_gap; complete table in REPORT.md. AGH 1,150.055 USD; HiGHS 1,274.759 USD at 20 s (bound 11.42, normalized gap 0.991), 915.549 USD at 120 s and 600 s (gaps 0.987-0.988). All HiGHS results are time-limited incumbents with weak bounds and no optimality proof. Cohort: four fixed coherent inputs (10x10x10 at loads 1/200/100,000 and 6x6x10 at 100,000), 20/20 measured jobs, 18/20 accepted; the 10x10x10/load200/120 s and 6x6x10/load100,000/600 s incumbents fail independent constraints. Median AGH/HiGHS cost ratio 0.845329 at 20 s (4/4 pairs) and 2.103171 at 120 and 600 s (3/4 pairs), descriptive intervals from 5,000 accepted-case resamples; ratios below one favor AGH. The longer-limit cohorts exclude different cases, so this is a local ordering change, not a general method ranking. Gurobi was skipped because its WSL license did not cover these cases; the October backend comparison (Gurobi incumbents) is a separate, older evidence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October 13 campaign, standard policy. Source at commit 80a9625: benchmarks/stage2_stress_2026-10-13/analysis/analysis.json, top-level completed_jobs, accepted_sources and rejected_source_diagnostics; overall.{attempted_scenarios, stage2_status_counts, frozen_infeasible_scenarios, recovered_scenarios, paired_cost_scenarios, paired_cost_reduction_fraction_of_baseline_sum}. The outcome bars are redrawn from stage2_status_counts on a common scale (the repository's plots/outcomes.png shows the same counts); the dashed bar marks scenarios outside the denominator. Forty completed source jobs, thirty-seven accepted sources, 1,850 operational LP attempts: 646 usable, 1,000 solver-infeasible, 204 objective-only rejections. 150 scenarios were skipped after three rejected Stage-1 sources. Adaptation recovers 256/1,344 frozen-routing failures (19.0476%). Summed C4+C5 falls by 5.857419% over 390 usable frozen/adapted pairs; reduction = (sum frozen - sum adapted) / sum frozen on identical usable scenarios, with no savings assigned to infeasible baselines. The retained policy uses absolute objective agreement 1e-8 USD and relative zero; completed jobs and solver-optimal status do not imply scientific acceptance (docs/STAGE2_RESULTS.md). The method breakdown (GH 85 pairs, AGH 255, P_DM 50) documents coverage, not a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Retrospective re-evaluation of the same retained October 13 decisions with the optional relative objective tolerance 1e-12. No LP is solved and no decision is repaired. Source at commit 80a9625: benchmarks/stage2_policy_2026-10-14/analysis.json, old_policy and selected_policy (usable, newly_usable, frozen_failures, recovered, paired_scenarios, paired_reduction_fraction, source_cluster_bootstrap.ci95) and mutation_check; rule in docs/STAGE2_OBJECTIVE_POLICY.md. The bars and table are redrawn from those fields (the repository's plots/policy_comparison.png shows the same values). Result: 204/204 objective-only rejections become usable, 850/1,850 usable attempts; all 1,000 infeasible attempts remain rejected; recovery 344/1,344 = 25.5952% vs 256/1,344 = 19.0476%. Paired summed C4+C5 reduction 5.957974%, 95% CI [5.745418%, 6.063490%], over 506 usable pairs in 37 source-grid clusters, vs 5.857419% [5.178352%, 6.117907%] over 390 pairs; the changed cohort prevents reading the difference as a causal policy benefit. An injected relative error of about 2e-6 is rejected; all seven nonzero coefficients from 1e-12 to 1e-6 recover the same 204. The 204 differences were 1-3 floating-point spacings, maximum relative 3.40e-16 (e.g. 76,006,408.80000001 vs 76,006,408.8 USD). Defaults remain absolute 1e-8 USD and relative zero; constraint tolerances and Stage-1 acceptance are unchanged. This establishes acceptance of these observed roundoff cases, not universal solver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October 14 campaign with new solves. Source at commit 80a9625: benchmarks/stage2_robustness_2026-10-14/analysis.json, completed_sources, accepted_sources, attempted_lps, status_counts and by_load keys "200.0", "2000.0", "20000.0", "100000.0" (recovered, frozen_failures, paired_scenarios, paired_reduction_fraction, source_cluster_bootstrap.ci95); source_results.json. Exact values: load 200, 330/1,260 = 26.1905%, 540 pairs, 4.945490% [4.640838%, 5.177031%]; load 2,000, 280/1,260 = 22.2222%, 540 pairs, 4.923512% [4.628603%, 5.146725%]; load 20,000, 400/1,220 = 32.7869%, 530 pairs, 5.156249% [4.726027%, 5.526150%]; load 100,000, 311/1,135 = 27.4009%, 315 pairs, 5.433509% [4.983066%, 5.865710%]. Intervals resample twelve shared-input clusters per load, 10,000 draws. Eight time-limited P_DM incumbents fail the unchanged Stage-1 absolute-only 1e-8 USD objective agreement and skip 400 planned LPs. The accepted three-method intersection is 40/48 input identities (12/12, 12/12, 11/12, 5/12 by load); pooled per-load rows include unmatched accepted inputs and support no method ranking. Historical diagnosis of the original 1,000 infeasible LPs: 940 error-SLO, 120 compute-capacity, 60 overlapping, zero unexplained (historical_infeasibility.json); these are lower-bound certificates, not exclusive causes. Conditional synthetic-grid results, not real-world probabilities or cloud bills.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campaign has its own inputs, timers and accepted cohort; favorable values from different sets are never combined. The release suite (benchmarks/portfolio/raw/serial/parity.json) is a bounded fixture check. The October 13 performance campaign's 16 complete Python/C++ comparisons check 185,832 values without a bitwise difference (benchmarks/performance_2026-10-13/analysis/analysis.json, serial[*].verification_mode and compared_numeric_values; docs/PERFORMANCE.md); two AGH Python references raised MemoryError and have final-decision checks only. The cross-platform 103.93x ratio (Python 4.774378 s on Windows vs C++ core 0.045939 s on WSL; docs/RESULTS.md) has different timer boundaries and is superseded for presentation by the matched WP1 study. The October 13 OpenMP campaign (18 rounds, 4.20x core, 2.27x invocation) and the October 11-12 16-case campaign (5.16x core, 64.5% efficiency, minima of three rounds) keep their own scope. October 11-12 allocation quality (docs/RESULTS.md): on eight shared synthetic cases AGH lowers GPU rental C1 from 9 to 8 USD (11.1%) while C2-C5 and service match GH; the nominal total score moves by only 0.087-0.278%. October 11-12 validator probe (benchmarks/portfolio/plots/validation_grain.png): at AGH 32 queries, serial 0.102698 s vs 0.109183, 0.133577, 0.205992 s with 2, 4, 8 threads, so production validation stays serial (docs/ARCHITECTURE.md "Where parallelism belongs"). WP8 recorded 1,131 Python tests with zero skips, native release and ASan/UBSan checks, 63/63 parity cases and 90 OpenMP comparisons at checkpoint 543ad4e (docs/KEY_NUMBERS.md "Verification scope"). The public tree omits the development-document test module (docs/VALIDATION.md); a fresh base install of the public tree on 15 October 2026 ran 1,126 tests with four optional skips (Gurobi, matplotlib), a local check rather than a retained artifact.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numerical claim in the deck maps to one retained artifact at public commit 80a9625ab62a3c5c70ede7a9dae97a61158e250a (base URL https://github.com/antonio-arbizzani-tonelli/llm-resource-allocation/blob/80a9625ab62a3c5c70ede7a9dae97a61158e250a/ followed by benchmarks/ and the path). The numerical payload matches extension checkpoint 543ad4e640100a4c2a69febf17fe885bd452861e. Charts redrawn for legibility use only these files: the OpenMP speedup curves (extension.json settings keys), the scaling charts (analysis.json fits plus analysis/instance_timings.csv), and the Stage-2 outcome and policy bars (analysis.json counts). The policy replay also uses mutation_check and docs/STAGE2_OBJECTIVE_POLICY.md; the new Stage-2 campaign also uses source_results.json and historical_infeasibility.json; the OpenMP diagnostics slide also uses same_team_controls.csv, thread_statistics.csv and decomposition.csv. The replay commands in docs/KEY_NUMBERS.md regenerate the analyses from retained evidence without rerunning timed algorithms or solving LPs/MILPs. Formulation and algorithms: Cheng and Nguyen, arXiv:2604.07472 v2 and 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26220"/>
            <a:ext cx="10566400" cy="421898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26220"/>
            <a:ext cx="10566400" cy="421898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it.linkedin.com/in/antonio-arbizzani-tonelli" TargetMode="External"/><Relationship Id="rId2" Type="http://schemas.openxmlformats.org/officeDocument/2006/relationships/hyperlink" Target="https://github.com/antonio-arbizzani-tonelli/llm-resource-allocation" TargetMode="External"/><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antonio-arbizzani-tonelli/llm-resource-allocation" TargetMode="External"/><Relationship Id="rId2" Type="http://schemas.openxmlformats.org/officeDocument/2006/relationships/hyperlink" Target="https://it.linkedin.com/in/antonio-arbizzani-tonelli" TargetMode="External"/><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421209"/>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2A27A"/>
                </a:solidFill>
                <a:latin typeface="IBM Plex Sans" pitchFamily="34" charset="0"/>
                <a:ea typeface="IBM Plex Sans" pitchFamily="34" charset="-122"/>
                <a:cs typeface="IBM Plex Sans" pitchFamily="34" charset="-120"/>
              </a:rPr>
              <a:t>PERSONAL PROJECT · SCIENTIFIC COMPUTING</a:t>
            </a:r>
            <a:endParaRPr lang="en-US" sz="1400" dirty="0"/>
          </a:p>
        </p:txBody>
      </p:sp>
      <p:sp>
        <p:nvSpPr>
          <p:cNvPr id="3" name="Text 1"/>
          <p:cNvSpPr/>
          <p:nvPr>
            <p:ph type="title"/>
          </p:nvPr>
        </p:nvSpPr>
        <p:spPr>
          <a:xfrm>
            <a:off x="812800" y="1873300"/>
            <a:ext cx="10883392" cy="77212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6F4EE"/>
                </a:solidFill>
                <a:latin typeface="Source Serif 4" pitchFamily="18" charset="0"/>
                <a:ea typeface="Source Serif 4" pitchFamily="18" charset="-122"/>
                <a:cs typeface="Source Serif 4" pitchFamily="18" charset="-120"/>
              </a:rPr>
              <a:t>LLM Resource Allocation</a:t>
            </a:r>
            <a:endParaRPr lang="en-US" sz="5600" dirty="0"/>
          </a:p>
        </p:txBody>
      </p:sp>
      <p:sp>
        <p:nvSpPr>
          <p:cNvPr id="4" name="Text 2"/>
          <p:cNvSpPr/>
          <p:nvPr/>
        </p:nvSpPr>
        <p:spPr>
          <a:xfrm>
            <a:off x="812800" y="2823220"/>
            <a:ext cx="10883392" cy="42163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C9D3E3"/>
                </a:solidFill>
                <a:latin typeface="Source Serif 4" pitchFamily="18" charset="0"/>
                <a:ea typeface="Source Serif 4" pitchFamily="18" charset="-122"/>
                <a:cs typeface="Source Serif 4" pitchFamily="18" charset="-120"/>
              </a:rPr>
              <a:t>A verified reference and CPU performance study</a:t>
            </a:r>
            <a:endParaRPr lang="en-US" sz="2600" dirty="0"/>
          </a:p>
        </p:txBody>
      </p:sp>
      <p:sp>
        <p:nvSpPr>
          <p:cNvPr id="5" name="Shape 3"/>
          <p:cNvSpPr/>
          <p:nvPr/>
        </p:nvSpPr>
        <p:spPr>
          <a:xfrm>
            <a:off x="812800" y="3422650"/>
            <a:ext cx="889000" cy="38100"/>
          </a:xfrm>
          <a:prstGeom prst="rect">
            <a:avLst/>
          </a:prstGeom>
          <a:solidFill>
            <a:srgbClr val="F2A27A"/>
          </a:solidFill>
          <a:ln/>
        </p:spPr>
      </p:sp>
      <p:sp>
        <p:nvSpPr>
          <p:cNvPr id="6" name="Text 4"/>
          <p:cNvSpPr/>
          <p:nvPr/>
        </p:nvSpPr>
        <p:spPr>
          <a:xfrm>
            <a:off x="812800" y="3663950"/>
            <a:ext cx="10883392"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6F4EE"/>
                </a:solidFill>
                <a:latin typeface="IBM Plex Sans" pitchFamily="34" charset="0"/>
                <a:ea typeface="IBM Plex Sans" pitchFamily="34" charset="-122"/>
                <a:cs typeface="IBM Plex Sans" pitchFamily="34" charset="-120"/>
              </a:rPr>
              <a:t>Antonio Arbizzani Tonelli</a:t>
            </a:r>
            <a:endParaRPr lang="en-US" sz="1800" dirty="0"/>
          </a:p>
        </p:txBody>
      </p:sp>
      <p:sp>
        <p:nvSpPr>
          <p:cNvPr id="7" name="Text 5"/>
          <p:cNvSpPr/>
          <p:nvPr/>
        </p:nvSpPr>
        <p:spPr>
          <a:xfrm>
            <a:off x="812800" y="403478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u="sng" dirty="0">
                <a:solidFill>
                  <a:srgbClr val="C9D3E3"/>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linkedin.com/in/antonio-arbizzani-tonelli</a:t>
            </a:r>
            <a:endParaRPr lang="en-US" sz="1400" dirty="0"/>
          </a:p>
        </p:txBody>
      </p:sp>
      <p:sp>
        <p:nvSpPr>
          <p:cNvPr id="8" name="Text 6"/>
          <p:cNvSpPr/>
          <p:nvPr/>
        </p:nvSpPr>
        <p:spPr>
          <a:xfrm>
            <a:off x="812800" y="4486870"/>
            <a:ext cx="981075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IBM Plex Sans" pitchFamily="34" charset="0"/>
                <a:ea typeface="IBM Plex Sans" pitchFamily="34" charset="-122"/>
                <a:cs typeface="IBM Plex Sans" pitchFamily="34" charset="-120"/>
              </a:rPr>
              <a:t>Python/Pyomo reference, serial C++20 port and OpenMP campaigns for a published allocation model. Formulation and GH/AGH algorithms: Cheng and Nguyen, arXiv:2604.07472.</a:t>
            </a:r>
            <a:endParaRPr lang="en-US" sz="1400" dirty="0"/>
          </a:p>
        </p:txBody>
      </p:sp>
      <p:sp>
        <p:nvSpPr>
          <p:cNvPr id="9" name="Text 7"/>
          <p:cNvSpPr/>
          <p:nvPr/>
        </p:nvSpPr>
        <p:spPr>
          <a:xfrm>
            <a:off x="812800" y="518785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u="sng" dirty="0">
                <a:solidFill>
                  <a:srgbClr val="F2A27A"/>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github.com/antonio-arbizzani-tonelli/llm-resource-allocation</a:t>
            </a:r>
            <a:r>
              <a:rPr lang="en-US" sz="1400" dirty="0">
                <a:solidFill>
                  <a:srgbClr val="F2A27A"/>
                </a:solidFill>
                <a:latin typeface="IBM Plex Sans" pitchFamily="34" charset="0"/>
                <a:ea typeface="IBM Plex Sans" pitchFamily="34" charset="-122"/>
                <a:cs typeface="IBM Plex Sans" pitchFamily="34" charset="-120"/>
              </a:rPr>
              <a:t> · MIT license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81A"/>
                </a:solidFill>
                <a:latin typeface="IBM Plex Sans" pitchFamily="34" charset="0"/>
                <a:ea typeface="IBM Plex Sans" pitchFamily="34" charset="-122"/>
                <a:cs typeface="IBM Plex Sans" pitchFamily="34" charset="-120"/>
              </a:rPr>
              <a:t>OVERVIEW · RESULTS AT A GLANCE</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Four measured results, each with its scope</a:t>
            </a:r>
            <a:endParaRPr lang="en-US" sz="3000" dirty="0"/>
          </a:p>
        </p:txBody>
      </p:sp>
      <p:sp>
        <p:nvSpPr>
          <p:cNvPr id="4" name="Shape 2"/>
          <p:cNvSpPr/>
          <p:nvPr/>
        </p:nvSpPr>
        <p:spPr>
          <a:xfrm>
            <a:off x="815975" y="1753195"/>
            <a:ext cx="10560050" cy="897880"/>
          </a:xfrm>
          <a:prstGeom prst="roundRect">
            <a:avLst>
              <a:gd name="adj" fmla="val 10962"/>
            </a:avLst>
          </a:prstGeom>
          <a:solidFill>
            <a:srgbClr val="FDFCF9"/>
          </a:solidFill>
          <a:ln w="6350">
            <a:solidFill>
              <a:srgbClr val="D9D5C8"/>
            </a:solidFill>
            <a:prstDash val="solid"/>
          </a:ln>
        </p:spPr>
      </p:sp>
      <p:sp>
        <p:nvSpPr>
          <p:cNvPr id="5" name="Text 3"/>
          <p:cNvSpPr/>
          <p:nvPr/>
        </p:nvSpPr>
        <p:spPr>
          <a:xfrm>
            <a:off x="1047750" y="1908770"/>
            <a:ext cx="2747010" cy="612130"/>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14213D"/>
                </a:solidFill>
                <a:latin typeface="Source Serif 4" pitchFamily="18" charset="0"/>
                <a:ea typeface="Source Serif 4" pitchFamily="18" charset="-122"/>
                <a:cs typeface="Source Serif 4" pitchFamily="18" charset="-120"/>
              </a:rPr>
              <a:t>63/63</a:t>
            </a:r>
            <a:endParaRPr lang="en-US" sz="4400" dirty="0"/>
          </a:p>
        </p:txBody>
      </p:sp>
      <p:sp>
        <p:nvSpPr>
          <p:cNvPr id="6" name="Text 4"/>
          <p:cNvSpPr/>
          <p:nvPr/>
        </p:nvSpPr>
        <p:spPr>
          <a:xfrm>
            <a:off x="3968750" y="1960860"/>
            <a:ext cx="7390765"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13D"/>
                </a:solidFill>
                <a:latin typeface="IBM Plex Sans" pitchFamily="34" charset="0"/>
                <a:ea typeface="IBM Plex Sans" pitchFamily="34" charset="-122"/>
                <a:cs typeface="IBM Plex Sans" pitchFamily="34" charset="-120"/>
              </a:rPr>
              <a:t>Cross-language checks pass: 3,023 final values bitwise identical</a:t>
            </a:r>
            <a:endParaRPr lang="en-US" sz="1400" dirty="0"/>
          </a:p>
        </p:txBody>
      </p:sp>
      <p:sp>
        <p:nvSpPr>
          <p:cNvPr id="7" name="Text 5"/>
          <p:cNvSpPr/>
          <p:nvPr/>
        </p:nvSpPr>
        <p:spPr>
          <a:xfrm>
            <a:off x="3968750" y="2230090"/>
            <a:ext cx="73907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48 placement cases (4 frozen) and 15 seeded-shuffle checks · bounded synthetic verification.</a:t>
            </a:r>
            <a:endParaRPr lang="en-US" sz="1200" dirty="0"/>
          </a:p>
        </p:txBody>
      </p:sp>
      <p:sp>
        <p:nvSpPr>
          <p:cNvPr id="8" name="Shape 6"/>
          <p:cNvSpPr/>
          <p:nvPr/>
        </p:nvSpPr>
        <p:spPr>
          <a:xfrm>
            <a:off x="815975" y="2809825"/>
            <a:ext cx="10560050" cy="897880"/>
          </a:xfrm>
          <a:prstGeom prst="roundRect">
            <a:avLst>
              <a:gd name="adj" fmla="val 10962"/>
            </a:avLst>
          </a:prstGeom>
          <a:solidFill>
            <a:srgbClr val="FDFCF9"/>
          </a:solidFill>
          <a:ln w="6350">
            <a:solidFill>
              <a:srgbClr val="D9D5C8"/>
            </a:solidFill>
            <a:prstDash val="solid"/>
          </a:ln>
        </p:spPr>
      </p:sp>
      <p:sp>
        <p:nvSpPr>
          <p:cNvPr id="9" name="Text 7"/>
          <p:cNvSpPr/>
          <p:nvPr/>
        </p:nvSpPr>
        <p:spPr>
          <a:xfrm>
            <a:off x="1047750" y="2965400"/>
            <a:ext cx="2747010" cy="612130"/>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14213D"/>
                </a:solidFill>
                <a:latin typeface="Source Serif 4" pitchFamily="18" charset="0"/>
                <a:ea typeface="Source Serif 4" pitchFamily="18" charset="-122"/>
                <a:cs typeface="Source Serif 4" pitchFamily="18" charset="-120"/>
              </a:rPr>
              <a:t>120.54×</a:t>
            </a:r>
            <a:endParaRPr lang="en-US" sz="4400" dirty="0"/>
          </a:p>
        </p:txBody>
      </p:sp>
      <p:sp>
        <p:nvSpPr>
          <p:cNvPr id="10" name="Text 8"/>
          <p:cNvSpPr/>
          <p:nvPr/>
        </p:nvSpPr>
        <p:spPr>
          <a:xfrm>
            <a:off x="3968750" y="3017490"/>
            <a:ext cx="7390765"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13D"/>
                </a:solidFill>
                <a:latin typeface="IBM Plex Sans" pitchFamily="34" charset="0"/>
                <a:ea typeface="IBM Plex Sans" pitchFamily="34" charset="-122"/>
                <a:cs typeface="IBM Plex Sans" pitchFamily="34" charset="-120"/>
              </a:rPr>
              <a:t>Python/C++ core-timer ratio of medians, AGH 16×4×4, load 200</a:t>
            </a:r>
            <a:endParaRPr lang="en-US" sz="1400" dirty="0"/>
          </a:p>
        </p:txBody>
      </p:sp>
      <p:sp>
        <p:nvSpPr>
          <p:cNvPr id="11" name="Text 9"/>
          <p:cNvSpPr/>
          <p:nvPr/>
        </p:nvSpPr>
        <p:spPr>
          <a:xfrm>
            <a:off x="3968750" y="3286720"/>
            <a:ext cx="73907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95% CI [109.75, 131.22] · complete invocation 99.70× · not a pure language effect.</a:t>
            </a:r>
            <a:endParaRPr lang="en-US" sz="1200" dirty="0"/>
          </a:p>
        </p:txBody>
      </p:sp>
      <p:sp>
        <p:nvSpPr>
          <p:cNvPr id="12" name="Shape 10"/>
          <p:cNvSpPr/>
          <p:nvPr/>
        </p:nvSpPr>
        <p:spPr>
          <a:xfrm>
            <a:off x="815975" y="3866455"/>
            <a:ext cx="10560050" cy="897880"/>
          </a:xfrm>
          <a:prstGeom prst="roundRect">
            <a:avLst>
              <a:gd name="adj" fmla="val 10962"/>
            </a:avLst>
          </a:prstGeom>
          <a:solidFill>
            <a:srgbClr val="FDFCF9"/>
          </a:solidFill>
          <a:ln w="6350">
            <a:solidFill>
              <a:srgbClr val="D9D5C8"/>
            </a:solidFill>
            <a:prstDash val="solid"/>
          </a:ln>
        </p:spPr>
      </p:sp>
      <p:sp>
        <p:nvSpPr>
          <p:cNvPr id="13" name="Text 11"/>
          <p:cNvSpPr/>
          <p:nvPr/>
        </p:nvSpPr>
        <p:spPr>
          <a:xfrm>
            <a:off x="1047750" y="4022030"/>
            <a:ext cx="2747010" cy="612130"/>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14213D"/>
                </a:solidFill>
                <a:latin typeface="Source Serif 4" pitchFamily="18" charset="0"/>
                <a:ea typeface="Source Serif 4" pitchFamily="18" charset="-122"/>
                <a:cs typeface="Source Serif 4" pitchFamily="18" charset="-120"/>
              </a:rPr>
              <a:t>4.02×</a:t>
            </a:r>
            <a:endParaRPr lang="en-US" sz="4400" dirty="0"/>
          </a:p>
        </p:txBody>
      </p:sp>
      <p:sp>
        <p:nvSpPr>
          <p:cNvPr id="14" name="Text 12"/>
          <p:cNvSpPr/>
          <p:nvPr/>
        </p:nvSpPr>
        <p:spPr>
          <a:xfrm>
            <a:off x="3968750" y="4074120"/>
            <a:ext cx="7390765"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13D"/>
                </a:solidFill>
                <a:latin typeface="IBM Plex Sans" pitchFamily="34" charset="0"/>
                <a:ea typeface="IBM Plex Sans" pitchFamily="34" charset="-122"/>
                <a:cs typeface="IBM Plex Sans" pitchFamily="34" charset="-120"/>
              </a:rPr>
              <a:t>OpenMP throughput, 8 threads vs one thread, fixed 32-case batch</a:t>
            </a:r>
            <a:endParaRPr lang="en-US" sz="1400" dirty="0"/>
          </a:p>
        </p:txBody>
      </p:sp>
      <p:sp>
        <p:nvSpPr>
          <p:cNvPr id="15" name="Text 13"/>
          <p:cNvSpPr/>
          <p:nvPr/>
        </p:nvSpPr>
        <p:spPr>
          <a:xfrm>
            <a:off x="3968750" y="4343350"/>
            <a:ext cx="73907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95% CI [3.76, 4.42] · 50.28% efficiency · 30 paired rounds · each solve stays serial.</a:t>
            </a:r>
            <a:endParaRPr lang="en-US" sz="1200" dirty="0"/>
          </a:p>
        </p:txBody>
      </p:sp>
      <p:sp>
        <p:nvSpPr>
          <p:cNvPr id="16" name="Shape 14"/>
          <p:cNvSpPr/>
          <p:nvPr/>
        </p:nvSpPr>
        <p:spPr>
          <a:xfrm>
            <a:off x="815975" y="4923086"/>
            <a:ext cx="10560050" cy="897880"/>
          </a:xfrm>
          <a:prstGeom prst="roundRect">
            <a:avLst>
              <a:gd name="adj" fmla="val 10962"/>
            </a:avLst>
          </a:prstGeom>
          <a:solidFill>
            <a:srgbClr val="FDFCF9"/>
          </a:solidFill>
          <a:ln w="6350">
            <a:solidFill>
              <a:srgbClr val="D9D5C8"/>
            </a:solidFill>
            <a:prstDash val="solid"/>
          </a:ln>
        </p:spPr>
      </p:sp>
      <p:sp>
        <p:nvSpPr>
          <p:cNvPr id="17" name="Text 15"/>
          <p:cNvSpPr/>
          <p:nvPr/>
        </p:nvSpPr>
        <p:spPr>
          <a:xfrm>
            <a:off x="1047750" y="5078661"/>
            <a:ext cx="2747010" cy="612130"/>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14213D"/>
                </a:solidFill>
                <a:latin typeface="Source Serif 4" pitchFamily="18" charset="0"/>
                <a:ea typeface="Source Serif 4" pitchFamily="18" charset="-122"/>
                <a:cs typeface="Source Serif 4" pitchFamily="18" charset="-120"/>
              </a:rPr>
              <a:t>1.94</a:t>
            </a:r>
            <a:endParaRPr lang="en-US" sz="4400" dirty="0"/>
          </a:p>
        </p:txBody>
      </p:sp>
      <p:sp>
        <p:nvSpPr>
          <p:cNvPr id="18" name="Text 16"/>
          <p:cNvSpPr/>
          <p:nvPr/>
        </p:nvSpPr>
        <p:spPr>
          <a:xfrm>
            <a:off x="3968750" y="5130750"/>
            <a:ext cx="7390765"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13D"/>
                </a:solidFill>
                <a:latin typeface="IBM Plex Sans" pitchFamily="34" charset="0"/>
                <a:ea typeface="IBM Plex Sans" pitchFamily="34" charset="-122"/>
                <a:cs typeface="IBM Plex Sans" pitchFamily="34" charset="-120"/>
              </a:rPr>
              <a:t>Log-log slope of native AGH time: about 3.8× per doubling of queries</a:t>
            </a:r>
            <a:endParaRPr lang="en-US" sz="1400" dirty="0"/>
          </a:p>
        </p:txBody>
      </p:sp>
      <p:sp>
        <p:nvSpPr>
          <p:cNvPr id="19" name="Text 17"/>
          <p:cNvSpPr/>
          <p:nvPr/>
        </p:nvSpPr>
        <p:spPr>
          <a:xfrm>
            <a:off x="3968750" y="5399980"/>
            <a:ext cx="73907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95% CI [1.93, 1.96] · 16–384 queries, five input seeds each · GH 1.66 · descriptive, not asymptotic.</a:t>
            </a:r>
            <a:endParaRPr lang="en-US" sz="1200" dirty="0"/>
          </a:p>
        </p:txBody>
      </p:sp>
      <p:sp>
        <p:nvSpPr>
          <p:cNvPr id="20" name="Text 18"/>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Synthetic inputs, CPU only (i7-13620H, WSL) · GPU latencies are model coefficients · sources in Appendix A8.</a:t>
            </a:r>
            <a:endParaRPr lang="en-US" sz="1200" dirty="0"/>
          </a:p>
        </p:txBody>
      </p:sp>
      <p:sp>
        <p:nvSpPr>
          <p:cNvPr id="21" name="Text 1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2 / 21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81A"/>
                </a:solidFill>
                <a:latin typeface="IBM Plex Sans" pitchFamily="34" charset="0"/>
                <a:ea typeface="IBM Plex Sans" pitchFamily="34" charset="-122"/>
                <a:cs typeface="IBM Plex Sans" pitchFamily="34" charset="-120"/>
              </a:rPr>
              <a:t>01 · THE PROBLEM</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Allocation under service constraints</a:t>
            </a:r>
            <a:endParaRPr lang="en-US" sz="3000" dirty="0"/>
          </a:p>
        </p:txBody>
      </p:sp>
      <p:sp>
        <p:nvSpPr>
          <p:cNvPr id="4" name="Text 2"/>
          <p:cNvSpPr/>
          <p:nvPr/>
        </p:nvSpPr>
        <p:spPr>
          <a:xfrm>
            <a:off x="812800" y="1750020"/>
            <a:ext cx="9810750"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4213D"/>
                </a:solidFill>
                <a:latin typeface="IBM Plex Sans" pitchFamily="34" charset="0"/>
                <a:ea typeface="IBM Plex Sans" pitchFamily="34" charset="-122"/>
                <a:cs typeface="IBM Plex Sans" pitchFamily="34" charset="-120"/>
              </a:rPr>
              <a:t>Choose model deployments and route demand across heterogeneous GPU options while meeting budget, capacity and service-level constraints.</a:t>
            </a:r>
            <a:endParaRPr lang="en-US" sz="1800" dirty="0"/>
          </a:p>
        </p:txBody>
      </p:sp>
      <p:sp>
        <p:nvSpPr>
          <p:cNvPr id="5" name="Shape 3"/>
          <p:cNvSpPr/>
          <p:nvPr/>
        </p:nvSpPr>
        <p:spPr>
          <a:xfrm>
            <a:off x="815975" y="2837706"/>
            <a:ext cx="3007767" cy="1311821"/>
          </a:xfrm>
          <a:prstGeom prst="roundRect">
            <a:avLst>
              <a:gd name="adj" fmla="val 7503"/>
            </a:avLst>
          </a:prstGeom>
          <a:solidFill>
            <a:srgbClr val="FDFCF9"/>
          </a:solidFill>
          <a:ln w="6350">
            <a:solidFill>
              <a:srgbClr val="D9D5C8"/>
            </a:solidFill>
            <a:prstDash val="solid"/>
          </a:ln>
        </p:spPr>
      </p:sp>
      <p:sp>
        <p:nvSpPr>
          <p:cNvPr id="6" name="Text 4"/>
          <p:cNvSpPr/>
          <p:nvPr/>
        </p:nvSpPr>
        <p:spPr>
          <a:xfrm>
            <a:off x="1047750" y="3069481"/>
            <a:ext cx="262054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Workload</a:t>
            </a:r>
            <a:endParaRPr lang="en-US" sz="1800" dirty="0"/>
          </a:p>
        </p:txBody>
      </p:sp>
      <p:sp>
        <p:nvSpPr>
          <p:cNvPr id="7" name="Text 5"/>
          <p:cNvSpPr/>
          <p:nvPr/>
        </p:nvSpPr>
        <p:spPr>
          <a:xfrm>
            <a:off x="1047750" y="3419971"/>
            <a:ext cx="262054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Demand per query type, forecast or realized.</a:t>
            </a:r>
            <a:endParaRPr lang="en-US" sz="1400" dirty="0"/>
          </a:p>
        </p:txBody>
      </p:sp>
      <p:pic>
        <p:nvPicPr>
          <p:cNvPr id="8" name="Image 0" descr="arrow-right">    </p:cNvPr>
          <p:cNvPicPr>
            <a:picLocks noChangeAspect="1"/>
          </p:cNvPicPr>
          <p:nvPr/>
        </p:nvPicPr>
        <p:blipFill>
          <a:blip r:embed="rId1"/>
          <a:srcRect l="0" r="0" t="0" b="0"/>
          <a:stretch/>
        </p:blipFill>
        <p:spPr>
          <a:xfrm>
            <a:off x="3979317" y="3366591"/>
            <a:ext cx="457200" cy="254000"/>
          </a:xfrm>
          <a:prstGeom prst="rect">
            <a:avLst/>
          </a:prstGeom>
        </p:spPr>
      </p:pic>
      <p:sp>
        <p:nvSpPr>
          <p:cNvPr id="9" name="Shape 6"/>
          <p:cNvSpPr/>
          <p:nvPr/>
        </p:nvSpPr>
        <p:spPr>
          <a:xfrm>
            <a:off x="4592092" y="2642146"/>
            <a:ext cx="3007816" cy="1702941"/>
          </a:xfrm>
          <a:prstGeom prst="roundRect">
            <a:avLst>
              <a:gd name="adj" fmla="val 5780"/>
            </a:avLst>
          </a:prstGeom>
          <a:solidFill>
            <a:srgbClr val="FDFCF9"/>
          </a:solidFill>
          <a:ln w="6350">
            <a:solidFill>
              <a:srgbClr val="D9D5C8"/>
            </a:solidFill>
            <a:prstDash val="solid"/>
          </a:ln>
        </p:spPr>
      </p:sp>
      <p:sp>
        <p:nvSpPr>
          <p:cNvPr id="10" name="Text 7"/>
          <p:cNvSpPr/>
          <p:nvPr/>
        </p:nvSpPr>
        <p:spPr>
          <a:xfrm>
            <a:off x="4823867" y="2873921"/>
            <a:ext cx="262059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Allocator</a:t>
            </a:r>
            <a:endParaRPr lang="en-US" sz="1800" dirty="0"/>
          </a:p>
        </p:txBody>
      </p:sp>
      <p:sp>
        <p:nvSpPr>
          <p:cNvPr id="11" name="Text 8"/>
          <p:cNvSpPr/>
          <p:nvPr/>
        </p:nvSpPr>
        <p:spPr>
          <a:xfrm>
            <a:off x="4823867" y="3224411"/>
            <a:ext cx="262059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Chooses deployments, GPU counts, parallelism and routing.</a:t>
            </a:r>
            <a:endParaRPr lang="en-US" sz="1400" dirty="0"/>
          </a:p>
        </p:txBody>
      </p:sp>
      <p:sp>
        <p:nvSpPr>
          <p:cNvPr id="12" name="Text 9"/>
          <p:cNvSpPr/>
          <p:nvPr/>
        </p:nvSpPr>
        <p:spPr>
          <a:xfrm>
            <a:off x="4823867" y="3798391"/>
            <a:ext cx="760313" cy="314920"/>
          </a:xfrm>
          <a:prstGeom prst="roundRect">
            <a:avLst>
              <a:gd name="adj" fmla="val 50000"/>
            </a:avLst>
          </a:prstGeom>
          <a:solidFill>
            <a:srgbClr val="F8E6DC"/>
          </a:solidFill>
          <a:ln/>
        </p:spPr>
        <p:txBody>
          <a:bodyPr wrap="none" lIns="0" tIns="0" rIns="0" bIns="0" rtlCol="0" anchor="ctr">
            <a:normAutofit/>
          </a:bodyPr>
          <a:lstStyle/>
          <a:p>
            <a:pPr algn="ctr" indent="0" marL="0">
              <a:lnSpc>
                <a:spcPts val="1680"/>
              </a:lnSpc>
              <a:buNone/>
            </a:pPr>
            <a:r>
              <a:rPr lang="en-US" sz="1200" b="1" dirty="0">
                <a:solidFill>
                  <a:srgbClr val="8F3512"/>
                </a:solidFill>
                <a:latin typeface="IBM Plex Sans" pitchFamily="34" charset="0"/>
                <a:ea typeface="IBM Plex Sans" pitchFamily="34" charset="-122"/>
                <a:cs typeface="IBM Plex Sans" pitchFamily="34" charset="-120"/>
              </a:rPr>
              <a:t>Budget</a:t>
            </a:r>
            <a:endParaRPr lang="en-US" sz="1200" dirty="0"/>
          </a:p>
        </p:txBody>
      </p:sp>
      <p:sp>
        <p:nvSpPr>
          <p:cNvPr id="13" name="Text 10"/>
          <p:cNvSpPr/>
          <p:nvPr/>
        </p:nvSpPr>
        <p:spPr>
          <a:xfrm>
            <a:off x="5660380" y="3798391"/>
            <a:ext cx="870645" cy="314920"/>
          </a:xfrm>
          <a:prstGeom prst="roundRect">
            <a:avLst>
              <a:gd name="adj" fmla="val 50000"/>
            </a:avLst>
          </a:prstGeom>
          <a:solidFill>
            <a:srgbClr val="F8E6DC"/>
          </a:solidFill>
          <a:ln/>
        </p:spPr>
        <p:txBody>
          <a:bodyPr wrap="none" lIns="0" tIns="0" rIns="0" bIns="0" rtlCol="0" anchor="ctr">
            <a:normAutofit/>
          </a:bodyPr>
          <a:lstStyle/>
          <a:p>
            <a:pPr algn="ctr" indent="0" marL="0">
              <a:lnSpc>
                <a:spcPts val="1680"/>
              </a:lnSpc>
              <a:buNone/>
            </a:pPr>
            <a:r>
              <a:rPr lang="en-US" sz="1200" b="1" dirty="0">
                <a:solidFill>
                  <a:srgbClr val="8F3512"/>
                </a:solidFill>
                <a:latin typeface="IBM Plex Sans" pitchFamily="34" charset="0"/>
                <a:ea typeface="IBM Plex Sans" pitchFamily="34" charset="-122"/>
                <a:cs typeface="IBM Plex Sans" pitchFamily="34" charset="-120"/>
              </a:rPr>
              <a:t>Capacity</a:t>
            </a:r>
            <a:endParaRPr lang="en-US" sz="1200" dirty="0"/>
          </a:p>
        </p:txBody>
      </p:sp>
      <p:sp>
        <p:nvSpPr>
          <p:cNvPr id="14" name="Text 11"/>
          <p:cNvSpPr/>
          <p:nvPr/>
        </p:nvSpPr>
        <p:spPr>
          <a:xfrm>
            <a:off x="6607225" y="3798391"/>
            <a:ext cx="605433" cy="314920"/>
          </a:xfrm>
          <a:prstGeom prst="roundRect">
            <a:avLst>
              <a:gd name="adj" fmla="val 50000"/>
            </a:avLst>
          </a:prstGeom>
          <a:solidFill>
            <a:srgbClr val="F8E6DC"/>
          </a:solidFill>
          <a:ln/>
        </p:spPr>
        <p:txBody>
          <a:bodyPr wrap="none" lIns="0" tIns="0" rIns="0" bIns="0" rtlCol="0" anchor="ctr">
            <a:normAutofit/>
          </a:bodyPr>
          <a:lstStyle/>
          <a:p>
            <a:pPr algn="ctr" indent="0" marL="0">
              <a:lnSpc>
                <a:spcPts val="1680"/>
              </a:lnSpc>
              <a:buNone/>
            </a:pPr>
            <a:r>
              <a:rPr lang="en-US" sz="1200" b="1" dirty="0">
                <a:solidFill>
                  <a:srgbClr val="8F3512"/>
                </a:solidFill>
                <a:latin typeface="IBM Plex Sans" pitchFamily="34" charset="0"/>
                <a:ea typeface="IBM Plex Sans" pitchFamily="34" charset="-122"/>
                <a:cs typeface="IBM Plex Sans" pitchFamily="34" charset="-120"/>
              </a:rPr>
              <a:t>SLOs</a:t>
            </a:r>
            <a:endParaRPr lang="en-US" sz="1200" dirty="0"/>
          </a:p>
        </p:txBody>
      </p:sp>
      <p:pic>
        <p:nvPicPr>
          <p:cNvPr id="15" name="Image 1" descr="arrow-right">    </p:cNvPr>
          <p:cNvPicPr>
            <a:picLocks noChangeAspect="1"/>
          </p:cNvPicPr>
          <p:nvPr/>
        </p:nvPicPr>
        <p:blipFill>
          <a:blip r:embed="rId2"/>
          <a:srcRect l="0" r="0" t="0" b="0"/>
          <a:stretch/>
        </p:blipFill>
        <p:spPr>
          <a:xfrm>
            <a:off x="7755483" y="3366591"/>
            <a:ext cx="457200" cy="254000"/>
          </a:xfrm>
          <a:prstGeom prst="rect">
            <a:avLst/>
          </a:prstGeom>
        </p:spPr>
      </p:pic>
      <p:sp>
        <p:nvSpPr>
          <p:cNvPr id="16" name="Shape 12"/>
          <p:cNvSpPr/>
          <p:nvPr/>
        </p:nvSpPr>
        <p:spPr>
          <a:xfrm>
            <a:off x="8368258" y="2576116"/>
            <a:ext cx="3007767" cy="1835001"/>
          </a:xfrm>
          <a:prstGeom prst="roundRect">
            <a:avLst>
              <a:gd name="adj" fmla="val 5364"/>
            </a:avLst>
          </a:prstGeom>
          <a:solidFill>
            <a:srgbClr val="FDFCF9"/>
          </a:solidFill>
          <a:ln w="6350">
            <a:solidFill>
              <a:srgbClr val="D9D5C8"/>
            </a:solidFill>
            <a:prstDash val="solid"/>
          </a:ln>
        </p:spPr>
      </p:sp>
      <p:sp>
        <p:nvSpPr>
          <p:cNvPr id="17" name="Text 13"/>
          <p:cNvSpPr/>
          <p:nvPr/>
        </p:nvSpPr>
        <p:spPr>
          <a:xfrm>
            <a:off x="8600033" y="2807891"/>
            <a:ext cx="2620543"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Models and GPU options</a:t>
            </a:r>
            <a:endParaRPr lang="en-US" sz="1800" dirty="0"/>
          </a:p>
        </p:txBody>
      </p:sp>
      <p:sp>
        <p:nvSpPr>
          <p:cNvPr id="18" name="Text 14"/>
          <p:cNvSpPr/>
          <p:nvPr/>
        </p:nvSpPr>
        <p:spPr>
          <a:xfrm>
            <a:off x="8600033" y="3432671"/>
            <a:ext cx="2620543"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Heterogeneous options, modeled rather than measured on a cluster.</a:t>
            </a:r>
            <a:endParaRPr lang="en-US" sz="1400" dirty="0"/>
          </a:p>
        </p:txBody>
      </p:sp>
      <p:sp>
        <p:nvSpPr>
          <p:cNvPr id="19" name="Shape 15"/>
          <p:cNvSpPr/>
          <p:nvPr/>
        </p:nvSpPr>
        <p:spPr>
          <a:xfrm>
            <a:off x="812800" y="4642892"/>
            <a:ext cx="10566400" cy="1043880"/>
          </a:xfrm>
          <a:prstGeom prst="roundRect">
            <a:avLst>
              <a:gd name="adj" fmla="val 9733"/>
            </a:avLst>
          </a:prstGeom>
          <a:solidFill>
            <a:srgbClr val="14213D"/>
          </a:solidFill>
          <a:ln/>
        </p:spPr>
      </p:sp>
      <p:sp>
        <p:nvSpPr>
          <p:cNvPr id="20" name="Text 16"/>
          <p:cNvSpPr/>
          <p:nvPr/>
        </p:nvSpPr>
        <p:spPr>
          <a:xfrm>
            <a:off x="1092200" y="4871492"/>
            <a:ext cx="103078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27A"/>
                </a:solidFill>
                <a:latin typeface="IBM Plex Sans" pitchFamily="34" charset="0"/>
                <a:ea typeface="IBM Plex Sans" pitchFamily="34" charset="-122"/>
                <a:cs typeface="IBM Plex Sans" pitchFamily="34" charset="-120"/>
              </a:rPr>
              <a:t>THIS PROJECT</a:t>
            </a:r>
            <a:endParaRPr lang="en-US" sz="1200" dirty="0"/>
          </a:p>
        </p:txBody>
      </p:sp>
      <p:sp>
        <p:nvSpPr>
          <p:cNvPr id="21" name="Text 17"/>
          <p:cNvSpPr/>
          <p:nvPr/>
        </p:nvSpPr>
        <p:spPr>
          <a:xfrm>
            <a:off x="1092200" y="5161012"/>
            <a:ext cx="1030782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6F4EE"/>
                </a:solidFill>
                <a:latin typeface="IBM Plex Sans" pitchFamily="34" charset="0"/>
                <a:ea typeface="IBM Plex Sans" pitchFamily="34" charset="-122"/>
                <a:cs typeface="IBM Plex Sans" pitchFamily="34" charset="-120"/>
              </a:rPr>
              <a:t>Implements and verifies the allocation software, then measures its CPU runtime.</a:t>
            </a:r>
            <a:endParaRPr lang="en-US" sz="1800" dirty="0"/>
          </a:p>
        </p:txBody>
      </p:sp>
      <p:sp>
        <p:nvSpPr>
          <p:cNvPr id="22" name="Text 18"/>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Formulation and GH/AGH: Cheng and Nguyen, arXiv:2604.07472 v2 (v1 for the operational LP).</a:t>
            </a:r>
            <a:endParaRPr lang="en-US" sz="1200" dirty="0"/>
          </a:p>
        </p:txBody>
      </p:sp>
      <p:sp>
        <p:nvSpPr>
          <p:cNvPr id="23" name="Text 1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3 / 21</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81A"/>
                </a:solidFill>
                <a:latin typeface="IBM Plex Sans" pitchFamily="34" charset="0"/>
                <a:ea typeface="IBM Plex Sans" pitchFamily="34" charset="-122"/>
                <a:cs typeface="IBM Plex Sans" pitchFamily="34" charset="-120"/>
              </a:rPr>
              <a:t>02 · MODEL</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The allocation model: two decision stages</a:t>
            </a:r>
            <a:endParaRPr lang="en-US" sz="3000" dirty="0"/>
          </a:p>
        </p:txBody>
      </p:sp>
      <p:sp>
        <p:nvSpPr>
          <p:cNvPr id="4" name="Shape 2"/>
          <p:cNvSpPr/>
          <p:nvPr/>
        </p:nvSpPr>
        <p:spPr>
          <a:xfrm>
            <a:off x="815975" y="1753195"/>
            <a:ext cx="5149850" cy="2276921"/>
          </a:xfrm>
          <a:prstGeom prst="roundRect">
            <a:avLst>
              <a:gd name="adj" fmla="val 4323"/>
            </a:avLst>
          </a:prstGeom>
          <a:solidFill>
            <a:srgbClr val="FDFCF9"/>
          </a:solidFill>
          <a:ln w="6350">
            <a:solidFill>
              <a:srgbClr val="D9D5C8"/>
            </a:solidFill>
            <a:prstDash val="solid"/>
          </a:ln>
        </p:spPr>
      </p:sp>
      <p:sp>
        <p:nvSpPr>
          <p:cNvPr id="5" name="Text 3"/>
          <p:cNvSpPr/>
          <p:nvPr/>
        </p:nvSpPr>
        <p:spPr>
          <a:xfrm>
            <a:off x="1022350" y="1959570"/>
            <a:ext cx="487921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1A6"/>
                </a:solidFill>
                <a:latin typeface="IBM Plex Sans" pitchFamily="34" charset="0"/>
                <a:ea typeface="IBM Plex Sans" pitchFamily="34" charset="-122"/>
                <a:cs typeface="IBM Plex Sans" pitchFamily="34" charset="-120"/>
              </a:rPr>
              <a:t>STAGE 1 · PLANNING</a:t>
            </a:r>
            <a:endParaRPr lang="en-US" sz="1200" dirty="0"/>
          </a:p>
        </p:txBody>
      </p:sp>
      <p:sp>
        <p:nvSpPr>
          <p:cNvPr id="6" name="Text 4"/>
          <p:cNvSpPr/>
          <p:nvPr/>
        </p:nvSpPr>
        <p:spPr>
          <a:xfrm>
            <a:off x="1022350" y="2299891"/>
            <a:ext cx="487921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Choose deployment and nominal routing</a:t>
            </a:r>
            <a:endParaRPr lang="en-US" sz="1800" dirty="0"/>
          </a:p>
        </p:txBody>
      </p:sp>
      <p:sp>
        <p:nvSpPr>
          <p:cNvPr id="7" name="Text 5"/>
          <p:cNvSpPr/>
          <p:nvPr/>
        </p:nvSpPr>
        <p:spPr>
          <a:xfrm>
            <a:off x="1022350" y="2701181"/>
            <a:ext cx="1206500" cy="314920"/>
          </a:xfrm>
          <a:custGeom>
            <a:avLst/>
            <a:gdLst/>
            <a:ahLst/>
            <a:cxnLst/>
            <a:rect l="l" t="t" r="r" b="b"/>
            <a:pathLst>
              <a:path w="1206500" h="314920">
                <a:moveTo>
                  <a:pt x="157460" y="0"/>
                </a:moveTo>
                <a:lnTo>
                  <a:pt x="1049040" y="0"/>
                </a:lnTo>
                <a:arcTo hR="157460" wR="157460" stAng="16200000" swAng="5400000"/>
                <a:lnTo>
                  <a:pt x="1206500" y="157460"/>
                </a:lnTo>
                <a:arcTo hR="157460" wR="157460" stAng="0" swAng="5400000"/>
                <a:lnTo>
                  <a:pt x="157460" y="314920"/>
                </a:lnTo>
                <a:arcTo hR="157460" wR="157460" stAng="5400000" swAng="5400000"/>
                <a:lnTo>
                  <a:pt x="0" y="157460"/>
                </a:lnTo>
                <a:arcTo hR="157460" wR="157460" stAng="10800000" swAng="5400000"/>
                <a:close/>
              </a:path>
            </a:pathLst>
          </a:custGeom>
          <a:solidFill>
            <a:srgbClr val="F8E6DC"/>
          </a:solidFill>
          <a:ln/>
        </p:spPr>
        <p:txBody>
          <a:bodyPr wrap="square" lIns="0" tIns="50800" rIns="0" bIns="25400" rtlCol="0" anchor="t">
            <a:normAutofit/>
          </a:bodyPr>
          <a:lstStyle/>
          <a:p>
            <a:pPr algn="ctr" indent="0" marL="0">
              <a:lnSpc>
                <a:spcPts val="1680"/>
              </a:lnSpc>
              <a:buNone/>
            </a:pPr>
            <a:r>
              <a:rPr lang="en-US" sz="1200" b="1" dirty="0">
                <a:solidFill>
                  <a:srgbClr val="8F3512"/>
                </a:solidFill>
                <a:latin typeface="IBM Plex Sans" pitchFamily="34" charset="0"/>
                <a:ea typeface="IBM Plex Sans" pitchFamily="34" charset="-122"/>
                <a:cs typeface="IBM Plex Sans" pitchFamily="34" charset="-120"/>
              </a:rPr>
              <a:t>VARIABLE</a:t>
            </a:r>
            <a:endParaRPr lang="en-US" sz="1200" dirty="0"/>
          </a:p>
        </p:txBody>
      </p:sp>
      <p:sp>
        <p:nvSpPr>
          <p:cNvPr id="8" name="Text 6"/>
          <p:cNvSpPr/>
          <p:nvPr/>
        </p:nvSpPr>
        <p:spPr>
          <a:xfrm>
            <a:off x="2355850" y="2701181"/>
            <a:ext cx="350570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GPU counts, model placement, TP/PP, routed and unmet fractions.</a:t>
            </a:r>
            <a:endParaRPr lang="en-US" sz="1400" dirty="0"/>
          </a:p>
        </p:txBody>
      </p:sp>
      <p:sp>
        <p:nvSpPr>
          <p:cNvPr id="9" name="Text 7"/>
          <p:cNvSpPr/>
          <p:nvPr/>
        </p:nvSpPr>
        <p:spPr>
          <a:xfrm>
            <a:off x="1022350" y="3325961"/>
            <a:ext cx="1206500" cy="314920"/>
          </a:xfrm>
          <a:custGeom>
            <a:avLst/>
            <a:gdLst/>
            <a:ahLst/>
            <a:cxnLst/>
            <a:rect l="l" t="t" r="r" b="b"/>
            <a:pathLst>
              <a:path w="1206500" h="314920">
                <a:moveTo>
                  <a:pt x="157460" y="0"/>
                </a:moveTo>
                <a:lnTo>
                  <a:pt x="1049040" y="0"/>
                </a:lnTo>
                <a:arcTo hR="157460" wR="157460" stAng="16200000" swAng="5400000"/>
                <a:lnTo>
                  <a:pt x="1206500" y="157460"/>
                </a:lnTo>
                <a:arcTo hR="157460" wR="157460" stAng="0" swAng="5400000"/>
                <a:lnTo>
                  <a:pt x="157460" y="314920"/>
                </a:lnTo>
                <a:arcTo hR="157460" wR="157460" stAng="5400000" swAng="5400000"/>
                <a:lnTo>
                  <a:pt x="0" y="157460"/>
                </a:lnTo>
                <a:arcTo hR="157460" wR="157460" stAng="10800000" swAng="5400000"/>
                <a:close/>
              </a:path>
            </a:pathLst>
          </a:custGeom>
          <a:solidFill>
            <a:srgbClr val="E7E4DA"/>
          </a:solidFill>
          <a:ln/>
        </p:spPr>
        <p:txBody>
          <a:bodyPr wrap="square" lIns="0" tIns="50800" rIns="0" bIns="25400" rtlCol="0" anchor="t">
            <a:normAutofit/>
          </a:bodyPr>
          <a:lstStyle/>
          <a:p>
            <a:pPr algn="ctr" indent="0" marL="0">
              <a:lnSpc>
                <a:spcPts val="1680"/>
              </a:lnSpc>
              <a:buNone/>
            </a:pPr>
            <a:r>
              <a:rPr lang="en-US" sz="1200" b="1" dirty="0">
                <a:solidFill>
                  <a:srgbClr val="3B4452"/>
                </a:solidFill>
                <a:latin typeface="IBM Plex Sans" pitchFamily="34" charset="0"/>
                <a:ea typeface="IBM Plex Sans" pitchFamily="34" charset="-122"/>
                <a:cs typeface="IBM Plex Sans" pitchFamily="34" charset="-120"/>
              </a:rPr>
              <a:t>FIXED</a:t>
            </a:r>
            <a:endParaRPr lang="en-US" sz="1200" dirty="0"/>
          </a:p>
        </p:txBody>
      </p:sp>
      <p:sp>
        <p:nvSpPr>
          <p:cNvPr id="10" name="Text 8"/>
          <p:cNvSpPr/>
          <p:nvPr/>
        </p:nvSpPr>
        <p:spPr>
          <a:xfrm>
            <a:off x="2355850" y="3325961"/>
            <a:ext cx="350570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Forecast demand and model coefficients.</a:t>
            </a:r>
            <a:endParaRPr lang="en-US" sz="1400" dirty="0"/>
          </a:p>
        </p:txBody>
      </p:sp>
      <p:sp>
        <p:nvSpPr>
          <p:cNvPr id="11" name="Shape 9"/>
          <p:cNvSpPr/>
          <p:nvPr/>
        </p:nvSpPr>
        <p:spPr>
          <a:xfrm>
            <a:off x="6226175" y="1753195"/>
            <a:ext cx="5149850" cy="2276921"/>
          </a:xfrm>
          <a:prstGeom prst="roundRect">
            <a:avLst>
              <a:gd name="adj" fmla="val 4323"/>
            </a:avLst>
          </a:prstGeom>
          <a:solidFill>
            <a:srgbClr val="FDFCF9"/>
          </a:solidFill>
          <a:ln w="6350">
            <a:solidFill>
              <a:srgbClr val="D9D5C8"/>
            </a:solidFill>
            <a:prstDash val="solid"/>
          </a:ln>
        </p:spPr>
      </p:sp>
      <p:sp>
        <p:nvSpPr>
          <p:cNvPr id="12" name="Text 10"/>
          <p:cNvSpPr/>
          <p:nvPr/>
        </p:nvSpPr>
        <p:spPr>
          <a:xfrm>
            <a:off x="6432550" y="1959570"/>
            <a:ext cx="487921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1A6"/>
                </a:solidFill>
                <a:latin typeface="IBM Plex Sans" pitchFamily="34" charset="0"/>
                <a:ea typeface="IBM Plex Sans" pitchFamily="34" charset="-122"/>
                <a:cs typeface="IBM Plex Sans" pitchFamily="34" charset="-120"/>
              </a:rPr>
              <a:t>STAGE 2 · OPERATION</a:t>
            </a:r>
            <a:endParaRPr lang="en-US" sz="1200" dirty="0"/>
          </a:p>
        </p:txBody>
      </p:sp>
      <p:sp>
        <p:nvSpPr>
          <p:cNvPr id="13" name="Text 11"/>
          <p:cNvSpPr/>
          <p:nvPr/>
        </p:nvSpPr>
        <p:spPr>
          <a:xfrm>
            <a:off x="6432550" y="2299891"/>
            <a:ext cx="487921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Adapt routing to a supplied scenario</a:t>
            </a:r>
            <a:endParaRPr lang="en-US" sz="1800" dirty="0"/>
          </a:p>
        </p:txBody>
      </p:sp>
      <p:sp>
        <p:nvSpPr>
          <p:cNvPr id="14" name="Text 12"/>
          <p:cNvSpPr/>
          <p:nvPr/>
        </p:nvSpPr>
        <p:spPr>
          <a:xfrm>
            <a:off x="6432550" y="2701181"/>
            <a:ext cx="1206500" cy="314920"/>
          </a:xfrm>
          <a:custGeom>
            <a:avLst/>
            <a:gdLst/>
            <a:ahLst/>
            <a:cxnLst/>
            <a:rect l="l" t="t" r="r" b="b"/>
            <a:pathLst>
              <a:path w="1206500" h="314920">
                <a:moveTo>
                  <a:pt x="157460" y="0"/>
                </a:moveTo>
                <a:lnTo>
                  <a:pt x="1049040" y="0"/>
                </a:lnTo>
                <a:arcTo hR="157460" wR="157460" stAng="16200000" swAng="5400000"/>
                <a:lnTo>
                  <a:pt x="1206500" y="157460"/>
                </a:lnTo>
                <a:arcTo hR="157460" wR="157460" stAng="0" swAng="5400000"/>
                <a:lnTo>
                  <a:pt x="157460" y="314920"/>
                </a:lnTo>
                <a:arcTo hR="157460" wR="157460" stAng="5400000" swAng="5400000"/>
                <a:lnTo>
                  <a:pt x="0" y="157460"/>
                </a:lnTo>
                <a:arcTo hR="157460" wR="157460" stAng="10800000" swAng="5400000"/>
                <a:close/>
              </a:path>
            </a:pathLst>
          </a:custGeom>
          <a:solidFill>
            <a:srgbClr val="F8E6DC"/>
          </a:solidFill>
          <a:ln/>
        </p:spPr>
        <p:txBody>
          <a:bodyPr wrap="square" lIns="0" tIns="50800" rIns="0" bIns="25400" rtlCol="0" anchor="t">
            <a:normAutofit/>
          </a:bodyPr>
          <a:lstStyle/>
          <a:p>
            <a:pPr algn="ctr" indent="0" marL="0">
              <a:lnSpc>
                <a:spcPts val="1680"/>
              </a:lnSpc>
              <a:buNone/>
            </a:pPr>
            <a:r>
              <a:rPr lang="en-US" sz="1200" b="1" dirty="0">
                <a:solidFill>
                  <a:srgbClr val="8F3512"/>
                </a:solidFill>
                <a:latin typeface="IBM Plex Sans" pitchFamily="34" charset="0"/>
                <a:ea typeface="IBM Plex Sans" pitchFamily="34" charset="-122"/>
                <a:cs typeface="IBM Plex Sans" pitchFamily="34" charset="-120"/>
              </a:rPr>
              <a:t>VARIABLE</a:t>
            </a:r>
            <a:endParaRPr lang="en-US" sz="1200" dirty="0"/>
          </a:p>
        </p:txBody>
      </p:sp>
      <p:sp>
        <p:nvSpPr>
          <p:cNvPr id="15" name="Text 13"/>
          <p:cNvSpPr/>
          <p:nvPr/>
        </p:nvSpPr>
        <p:spPr>
          <a:xfrm>
            <a:off x="7766050" y="2701181"/>
            <a:ext cx="350570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Routed and unmet fractions, via the operational LP.</a:t>
            </a:r>
            <a:endParaRPr lang="en-US" sz="1400" dirty="0"/>
          </a:p>
        </p:txBody>
      </p:sp>
      <p:sp>
        <p:nvSpPr>
          <p:cNvPr id="16" name="Text 14"/>
          <p:cNvSpPr/>
          <p:nvPr/>
        </p:nvSpPr>
        <p:spPr>
          <a:xfrm>
            <a:off x="6432550" y="3325961"/>
            <a:ext cx="1206500" cy="314920"/>
          </a:xfrm>
          <a:custGeom>
            <a:avLst/>
            <a:gdLst/>
            <a:ahLst/>
            <a:cxnLst/>
            <a:rect l="l" t="t" r="r" b="b"/>
            <a:pathLst>
              <a:path w="1206500" h="314920">
                <a:moveTo>
                  <a:pt x="157460" y="0"/>
                </a:moveTo>
                <a:lnTo>
                  <a:pt x="1049040" y="0"/>
                </a:lnTo>
                <a:arcTo hR="157460" wR="157460" stAng="16200000" swAng="5400000"/>
                <a:lnTo>
                  <a:pt x="1206500" y="157460"/>
                </a:lnTo>
                <a:arcTo hR="157460" wR="157460" stAng="0" swAng="5400000"/>
                <a:lnTo>
                  <a:pt x="157460" y="314920"/>
                </a:lnTo>
                <a:arcTo hR="157460" wR="157460" stAng="5400000" swAng="5400000"/>
                <a:lnTo>
                  <a:pt x="0" y="157460"/>
                </a:lnTo>
                <a:arcTo hR="157460" wR="157460" stAng="10800000" swAng="5400000"/>
                <a:close/>
              </a:path>
            </a:pathLst>
          </a:custGeom>
          <a:solidFill>
            <a:srgbClr val="E7E4DA"/>
          </a:solidFill>
          <a:ln/>
        </p:spPr>
        <p:txBody>
          <a:bodyPr wrap="square" lIns="0" tIns="50800" rIns="0" bIns="25400" rtlCol="0" anchor="t">
            <a:normAutofit/>
          </a:bodyPr>
          <a:lstStyle/>
          <a:p>
            <a:pPr algn="ctr" indent="0" marL="0">
              <a:lnSpc>
                <a:spcPts val="1680"/>
              </a:lnSpc>
              <a:buNone/>
            </a:pPr>
            <a:r>
              <a:rPr lang="en-US" sz="1200" b="1" dirty="0">
                <a:solidFill>
                  <a:srgbClr val="3B4452"/>
                </a:solidFill>
                <a:latin typeface="IBM Plex Sans" pitchFamily="34" charset="0"/>
                <a:ea typeface="IBM Plex Sans" pitchFamily="34" charset="-122"/>
                <a:cs typeface="IBM Plex Sans" pitchFamily="34" charset="-120"/>
              </a:rPr>
              <a:t>FIXED</a:t>
            </a:r>
            <a:endParaRPr lang="en-US" sz="1200" dirty="0"/>
          </a:p>
        </p:txBody>
      </p:sp>
      <p:sp>
        <p:nvSpPr>
          <p:cNvPr id="17" name="Text 15"/>
          <p:cNvSpPr/>
          <p:nvPr/>
        </p:nvSpPr>
        <p:spPr>
          <a:xfrm>
            <a:off x="7766050" y="3325961"/>
            <a:ext cx="350570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GPU counts, admissions and TP/PP from Stage 1.</a:t>
            </a:r>
            <a:endParaRPr lang="en-US" sz="1400" dirty="0"/>
          </a:p>
        </p:txBody>
      </p:sp>
      <p:sp>
        <p:nvSpPr>
          <p:cNvPr id="18" name="Shape 16"/>
          <p:cNvSpPr/>
          <p:nvPr/>
        </p:nvSpPr>
        <p:spPr>
          <a:xfrm>
            <a:off x="812800" y="4261892"/>
            <a:ext cx="10566400" cy="929580"/>
          </a:xfrm>
          <a:prstGeom prst="roundRect">
            <a:avLst>
              <a:gd name="adj" fmla="val 10930"/>
            </a:avLst>
          </a:prstGeom>
          <a:solidFill>
            <a:srgbClr val="E3ECF7"/>
          </a:solidFill>
          <a:ln/>
        </p:spPr>
      </p:sp>
      <p:sp>
        <p:nvSpPr>
          <p:cNvPr id="19" name="Text 17"/>
          <p:cNvSpPr/>
          <p:nvPr/>
        </p:nvSpPr>
        <p:spPr>
          <a:xfrm>
            <a:off x="1016000" y="4439692"/>
            <a:ext cx="10464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Objective</a:t>
            </a:r>
            <a:r>
              <a:rPr lang="en-US" sz="1400" dirty="0">
                <a:solidFill>
                  <a:srgbClr val="14213D"/>
                </a:solidFill>
                <a:latin typeface="IBM Plex Sans" pitchFamily="34" charset="0"/>
                <a:ea typeface="IBM Plex Sans" pitchFamily="34" charset="-122"/>
                <a:cs typeface="IBM Plex Sans" pitchFamily="34" charset="-120"/>
              </a:rPr>
              <a:t> · GPU rental C1 + model storage C2 + data storage C3 + delay C4 + unmet demand C5</a:t>
            </a:r>
            <a:endParaRPr lang="en-US" sz="1400" dirty="0"/>
          </a:p>
        </p:txBody>
      </p:sp>
      <p:sp>
        <p:nvSpPr>
          <p:cNvPr id="20" name="Text 18"/>
          <p:cNvSpPr/>
          <p:nvPr/>
        </p:nvSpPr>
        <p:spPr>
          <a:xfrm>
            <a:off x="1016000" y="4764782"/>
            <a:ext cx="10464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Constraints</a:t>
            </a:r>
            <a:r>
              <a:rPr lang="en-US" sz="1400" dirty="0">
                <a:solidFill>
                  <a:srgbClr val="14213D"/>
                </a:solidFill>
                <a:latin typeface="IBM Plex Sans" pitchFamily="34" charset="0"/>
                <a:ea typeface="IBM Plex Sans" pitchFamily="34" charset="-122"/>
                <a:cs typeface="IBM Plex Sans" pitchFamily="34" charset="-120"/>
              </a:rPr>
              <a:t> · demand balance, admission, compute, memory, storage, latency, error, budget on C1+C2+C3</a:t>
            </a:r>
            <a:endParaRPr lang="en-US" sz="1400" dirty="0"/>
          </a:p>
        </p:txBody>
      </p:sp>
      <p:sp>
        <p:nvSpPr>
          <p:cNvPr id="21" name="Text 19"/>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GPU capacity and latency are model inputs · all runtime experiments execute allocation software on CPU.</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4 / 21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81A"/>
                </a:solidFill>
                <a:latin typeface="IBM Plex Sans" pitchFamily="34" charset="0"/>
                <a:ea typeface="IBM Plex Sans" pitchFamily="34" charset="-122"/>
                <a:cs typeface="IBM Plex Sans" pitchFamily="34" charset="-120"/>
              </a:rPr>
              <a:t>03 · PYTHON REFERENCE</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Python and Pyomo as the scientific reference</a:t>
            </a:r>
            <a:endParaRPr lang="en-US" sz="3000" dirty="0"/>
          </a:p>
        </p:txBody>
      </p:sp>
      <p:sp>
        <p:nvSpPr>
          <p:cNvPr id="4" name="Shape 2"/>
          <p:cNvSpPr/>
          <p:nvPr/>
        </p:nvSpPr>
        <p:spPr>
          <a:xfrm>
            <a:off x="815975" y="1859855"/>
            <a:ext cx="2219325" cy="1052711"/>
          </a:xfrm>
          <a:prstGeom prst="roundRect">
            <a:avLst>
              <a:gd name="adj" fmla="val 9350"/>
            </a:avLst>
          </a:prstGeom>
          <a:solidFill>
            <a:srgbClr val="FDFCF9"/>
          </a:solidFill>
          <a:ln w="6350">
            <a:solidFill>
              <a:srgbClr val="D9D5C8"/>
            </a:solidFill>
            <a:prstDash val="solid"/>
          </a:ln>
        </p:spPr>
      </p:sp>
      <p:sp>
        <p:nvSpPr>
          <p:cNvPr id="5" name="Text 3"/>
          <p:cNvSpPr/>
          <p:nvPr/>
        </p:nvSpPr>
        <p:spPr>
          <a:xfrm>
            <a:off x="996950" y="2040830"/>
            <a:ext cx="191309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Inputs</a:t>
            </a:r>
            <a:endParaRPr lang="en-US" sz="1400" dirty="0"/>
          </a:p>
        </p:txBody>
      </p:sp>
      <p:sp>
        <p:nvSpPr>
          <p:cNvPr id="6" name="Text 4"/>
          <p:cNvSpPr/>
          <p:nvPr/>
        </p:nvSpPr>
        <p:spPr>
          <a:xfrm>
            <a:off x="996950" y="2304951"/>
            <a:ext cx="191309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Validated problem data with explicit units.</a:t>
            </a:r>
            <a:endParaRPr lang="en-US" sz="1200" dirty="0"/>
          </a:p>
        </p:txBody>
      </p:sp>
      <p:pic>
        <p:nvPicPr>
          <p:cNvPr id="7" name="Image 0" descr="arrow-right">    </p:cNvPr>
          <p:cNvPicPr>
            <a:picLocks noChangeAspect="1"/>
          </p:cNvPicPr>
          <p:nvPr/>
        </p:nvPicPr>
        <p:blipFill>
          <a:blip r:embed="rId1"/>
          <a:srcRect l="0" r="0" t="0" b="0"/>
          <a:stretch/>
        </p:blipFill>
        <p:spPr>
          <a:xfrm>
            <a:off x="3140075" y="2284611"/>
            <a:ext cx="355600" cy="203200"/>
          </a:xfrm>
          <a:prstGeom prst="rect">
            <a:avLst/>
          </a:prstGeom>
        </p:spPr>
      </p:pic>
      <p:sp>
        <p:nvSpPr>
          <p:cNvPr id="8" name="Shape 5"/>
          <p:cNvSpPr/>
          <p:nvPr/>
        </p:nvSpPr>
        <p:spPr>
          <a:xfrm>
            <a:off x="3600450" y="1753195"/>
            <a:ext cx="2219325" cy="1266031"/>
          </a:xfrm>
          <a:prstGeom prst="roundRect">
            <a:avLst>
              <a:gd name="adj" fmla="val 7774"/>
            </a:avLst>
          </a:prstGeom>
          <a:solidFill>
            <a:srgbClr val="FDFCF9"/>
          </a:solidFill>
          <a:ln w="6350">
            <a:solidFill>
              <a:srgbClr val="D9D5C8"/>
            </a:solidFill>
            <a:prstDash val="solid"/>
          </a:ln>
        </p:spPr>
      </p:sp>
      <p:sp>
        <p:nvSpPr>
          <p:cNvPr id="9" name="Text 6"/>
          <p:cNvSpPr/>
          <p:nvPr/>
        </p:nvSpPr>
        <p:spPr>
          <a:xfrm>
            <a:off x="3781425" y="1934170"/>
            <a:ext cx="191309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Algorithm or model</a:t>
            </a:r>
            <a:endParaRPr lang="en-US" sz="1400" dirty="0"/>
          </a:p>
        </p:txBody>
      </p:sp>
      <p:sp>
        <p:nvSpPr>
          <p:cNvPr id="10" name="Text 7"/>
          <p:cNvSpPr/>
          <p:nvPr/>
        </p:nvSpPr>
        <p:spPr>
          <a:xfrm>
            <a:off x="3781425" y="2198291"/>
            <a:ext cx="191309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GH/AGH in Python, or a Pyomo MILP/LP solved by HiGHS or Gurobi.</a:t>
            </a:r>
            <a:endParaRPr lang="en-US" sz="1200" dirty="0"/>
          </a:p>
        </p:txBody>
      </p:sp>
      <p:pic>
        <p:nvPicPr>
          <p:cNvPr id="11" name="Image 1" descr="arrow-right">    </p:cNvPr>
          <p:cNvPicPr>
            <a:picLocks noChangeAspect="1"/>
          </p:cNvPicPr>
          <p:nvPr/>
        </p:nvPicPr>
        <p:blipFill>
          <a:blip r:embed="rId2"/>
          <a:srcRect l="0" r="0" t="0" b="0"/>
          <a:stretch/>
        </p:blipFill>
        <p:spPr>
          <a:xfrm>
            <a:off x="5924550" y="2284611"/>
            <a:ext cx="355600" cy="203200"/>
          </a:xfrm>
          <a:prstGeom prst="rect">
            <a:avLst/>
          </a:prstGeom>
        </p:spPr>
      </p:pic>
      <p:sp>
        <p:nvSpPr>
          <p:cNvPr id="12" name="Shape 8"/>
          <p:cNvSpPr/>
          <p:nvPr/>
        </p:nvSpPr>
        <p:spPr>
          <a:xfrm>
            <a:off x="6384925" y="1753195"/>
            <a:ext cx="2219325" cy="1266031"/>
          </a:xfrm>
          <a:prstGeom prst="roundRect">
            <a:avLst>
              <a:gd name="adj" fmla="val 7774"/>
            </a:avLst>
          </a:prstGeom>
          <a:solidFill>
            <a:srgbClr val="FDFCF9"/>
          </a:solidFill>
          <a:ln w="6350">
            <a:solidFill>
              <a:srgbClr val="D9D5C8"/>
            </a:solidFill>
            <a:prstDash val="solid"/>
          </a:ln>
        </p:spPr>
      </p:sp>
      <p:sp>
        <p:nvSpPr>
          <p:cNvPr id="13" name="Text 9"/>
          <p:cNvSpPr/>
          <p:nvPr/>
        </p:nvSpPr>
        <p:spPr>
          <a:xfrm>
            <a:off x="6565900" y="1934170"/>
            <a:ext cx="191309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Decision record</a:t>
            </a:r>
            <a:endParaRPr lang="en-US" sz="1400" dirty="0"/>
          </a:p>
        </p:txBody>
      </p:sp>
      <p:sp>
        <p:nvSpPr>
          <p:cNvPr id="14" name="Text 10"/>
          <p:cNvSpPr/>
          <p:nvPr/>
        </p:nvSpPr>
        <p:spPr>
          <a:xfrm>
            <a:off x="6565900" y="2198291"/>
            <a:ext cx="191309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Plain domain data; extraction never repairs a decision.</a:t>
            </a:r>
            <a:endParaRPr lang="en-US" sz="1200" dirty="0"/>
          </a:p>
        </p:txBody>
      </p:sp>
      <p:pic>
        <p:nvPicPr>
          <p:cNvPr id="15" name="Image 2" descr="arrow-right">    </p:cNvPr>
          <p:cNvPicPr>
            <a:picLocks noChangeAspect="1"/>
          </p:cNvPicPr>
          <p:nvPr/>
        </p:nvPicPr>
        <p:blipFill>
          <a:blip r:embed="rId3"/>
          <a:srcRect l="0" r="0" t="0" b="0"/>
          <a:stretch/>
        </p:blipFill>
        <p:spPr>
          <a:xfrm>
            <a:off x="8709025" y="2284611"/>
            <a:ext cx="355600" cy="203200"/>
          </a:xfrm>
          <a:prstGeom prst="rect">
            <a:avLst/>
          </a:prstGeom>
        </p:spPr>
      </p:pic>
      <p:sp>
        <p:nvSpPr>
          <p:cNvPr id="16" name="Shape 11"/>
          <p:cNvSpPr/>
          <p:nvPr/>
        </p:nvSpPr>
        <p:spPr>
          <a:xfrm>
            <a:off x="9166225" y="1756370"/>
            <a:ext cx="2212975" cy="1259681"/>
          </a:xfrm>
          <a:prstGeom prst="roundRect">
            <a:avLst>
              <a:gd name="adj" fmla="val 8066"/>
            </a:avLst>
          </a:prstGeom>
          <a:solidFill>
            <a:srgbClr val="14213D"/>
          </a:solidFill>
          <a:ln/>
        </p:spPr>
      </p:sp>
      <p:sp>
        <p:nvSpPr>
          <p:cNvPr id="17" name="Text 12"/>
          <p:cNvSpPr/>
          <p:nvPr/>
        </p:nvSpPr>
        <p:spPr>
          <a:xfrm>
            <a:off x="9344025" y="1934170"/>
            <a:ext cx="20351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4EE"/>
                </a:solidFill>
                <a:latin typeface="IBM Plex Sans" pitchFamily="34" charset="0"/>
                <a:ea typeface="IBM Plex Sans" pitchFamily="34" charset="-122"/>
                <a:cs typeface="IBM Plex Sans" pitchFamily="34" charset="-120"/>
              </a:rPr>
              <a:t>Independent validator</a:t>
            </a:r>
            <a:endParaRPr lang="en-US" sz="1400" dirty="0"/>
          </a:p>
        </p:txBody>
      </p:sp>
      <p:sp>
        <p:nvSpPr>
          <p:cNvPr id="18" name="Text 13"/>
          <p:cNvSpPr/>
          <p:nvPr/>
        </p:nvSpPr>
        <p:spPr>
          <a:xfrm>
            <a:off x="9344025" y="2198291"/>
            <a:ext cx="191309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Recomputes constraints and objective; accepts or records failure.</a:t>
            </a:r>
            <a:endParaRPr lang="en-US" sz="1200" dirty="0"/>
          </a:p>
        </p:txBody>
      </p:sp>
      <p:sp>
        <p:nvSpPr>
          <p:cNvPr id="19" name="Shape 14"/>
          <p:cNvSpPr/>
          <p:nvPr/>
        </p:nvSpPr>
        <p:spPr>
          <a:xfrm>
            <a:off x="815975" y="3254177"/>
            <a:ext cx="5175250" cy="1484511"/>
          </a:xfrm>
          <a:prstGeom prst="roundRect">
            <a:avLst>
              <a:gd name="adj" fmla="val 6630"/>
            </a:avLst>
          </a:prstGeom>
          <a:solidFill>
            <a:srgbClr val="FDFCF9"/>
          </a:solidFill>
          <a:ln w="6350">
            <a:solidFill>
              <a:srgbClr val="D9D5C8"/>
            </a:solidFill>
            <a:prstDash val="solid"/>
          </a:ln>
        </p:spPr>
      </p:sp>
      <p:sp>
        <p:nvSpPr>
          <p:cNvPr id="20" name="Text 15"/>
          <p:cNvSpPr/>
          <p:nvPr/>
        </p:nvSpPr>
        <p:spPr>
          <a:xfrm>
            <a:off x="1022350" y="3435152"/>
            <a:ext cx="490537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1A6"/>
                </a:solidFill>
                <a:latin typeface="IBM Plex Sans" pitchFamily="34" charset="0"/>
                <a:ea typeface="IBM Plex Sans" pitchFamily="34" charset="-122"/>
                <a:cs typeface="IBM Plex Sans" pitchFamily="34" charset="-120"/>
              </a:rPr>
              <a:t>KEPT AS SEPARATE EVIDENCE</a:t>
            </a:r>
            <a:endParaRPr lang="en-US" sz="1200" dirty="0"/>
          </a:p>
        </p:txBody>
      </p:sp>
      <p:sp>
        <p:nvSpPr>
          <p:cNvPr id="21" name="Text 16"/>
          <p:cNvSpPr/>
          <p:nvPr/>
        </p:nvSpPr>
        <p:spPr>
          <a:xfrm>
            <a:off x="1022350" y="3750072"/>
            <a:ext cx="2343150" cy="365720"/>
          </a:xfrm>
          <a:prstGeom prst="roundRect">
            <a:avLst>
              <a:gd name="adj" fmla="val 20836"/>
            </a:avLst>
          </a:prstGeom>
          <a:solidFill>
            <a:srgbClr val="E3ECF7"/>
          </a:solidFill>
          <a:ln/>
        </p:spPr>
        <p:txBody>
          <a:bodyPr wrap="square" lIns="79282" tIns="53882" rIns="15083" bIns="28482"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Completion</a:t>
            </a:r>
            <a:endParaRPr lang="en-US" sz="1200" dirty="0"/>
          </a:p>
        </p:txBody>
      </p:sp>
      <p:sp>
        <p:nvSpPr>
          <p:cNvPr id="22" name="Text 17"/>
          <p:cNvSpPr/>
          <p:nvPr/>
        </p:nvSpPr>
        <p:spPr>
          <a:xfrm>
            <a:off x="3441700" y="3750072"/>
            <a:ext cx="2343150" cy="365720"/>
          </a:xfrm>
          <a:prstGeom prst="roundRect">
            <a:avLst>
              <a:gd name="adj" fmla="val 20836"/>
            </a:avLst>
          </a:prstGeom>
          <a:solidFill>
            <a:srgbClr val="E3ECF7"/>
          </a:solidFill>
          <a:ln/>
        </p:spPr>
        <p:txBody>
          <a:bodyPr wrap="square" lIns="79282" tIns="53882" rIns="15083" bIns="28482"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Constraint feasibility</a:t>
            </a:r>
            <a:endParaRPr lang="en-US" sz="1200" dirty="0"/>
          </a:p>
        </p:txBody>
      </p:sp>
      <p:sp>
        <p:nvSpPr>
          <p:cNvPr id="23" name="Text 18"/>
          <p:cNvSpPr/>
          <p:nvPr/>
        </p:nvSpPr>
        <p:spPr>
          <a:xfrm>
            <a:off x="1022350" y="4191992"/>
            <a:ext cx="2343150" cy="365720"/>
          </a:xfrm>
          <a:prstGeom prst="roundRect">
            <a:avLst>
              <a:gd name="adj" fmla="val 20836"/>
            </a:avLst>
          </a:prstGeom>
          <a:solidFill>
            <a:srgbClr val="E3ECF7"/>
          </a:solidFill>
          <a:ln/>
        </p:spPr>
        <p:txBody>
          <a:bodyPr wrap="square" lIns="79282" tIns="53882" rIns="15083" bIns="28482"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Objective agreement</a:t>
            </a:r>
            <a:endParaRPr lang="en-US" sz="1200" dirty="0"/>
          </a:p>
        </p:txBody>
      </p:sp>
      <p:sp>
        <p:nvSpPr>
          <p:cNvPr id="24" name="Text 19"/>
          <p:cNvSpPr/>
          <p:nvPr/>
        </p:nvSpPr>
        <p:spPr>
          <a:xfrm>
            <a:off x="3441700" y="4191992"/>
            <a:ext cx="2343150" cy="365720"/>
          </a:xfrm>
          <a:prstGeom prst="roundRect">
            <a:avLst>
              <a:gd name="adj" fmla="val 20836"/>
            </a:avLst>
          </a:prstGeom>
          <a:solidFill>
            <a:srgbClr val="E3ECF7"/>
          </a:solidFill>
          <a:ln/>
        </p:spPr>
        <p:txBody>
          <a:bodyPr wrap="square" lIns="79282" tIns="53882" rIns="15083" bIns="28482"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Solver termination</a:t>
            </a:r>
            <a:endParaRPr lang="en-US" sz="1200" dirty="0"/>
          </a:p>
        </p:txBody>
      </p:sp>
      <p:sp>
        <p:nvSpPr>
          <p:cNvPr id="25" name="Shape 20"/>
          <p:cNvSpPr/>
          <p:nvPr/>
        </p:nvSpPr>
        <p:spPr>
          <a:xfrm>
            <a:off x="6200775" y="3254177"/>
            <a:ext cx="5175250" cy="1484511"/>
          </a:xfrm>
          <a:prstGeom prst="roundRect">
            <a:avLst>
              <a:gd name="adj" fmla="val 6630"/>
            </a:avLst>
          </a:prstGeom>
          <a:solidFill>
            <a:srgbClr val="FDFCF9"/>
          </a:solidFill>
          <a:ln w="6350">
            <a:solidFill>
              <a:srgbClr val="D9D5C8"/>
            </a:solidFill>
            <a:prstDash val="solid"/>
          </a:ln>
        </p:spPr>
      </p:sp>
      <p:sp>
        <p:nvSpPr>
          <p:cNvPr id="26" name="Text 21"/>
          <p:cNvSpPr/>
          <p:nvPr/>
        </p:nvSpPr>
        <p:spPr>
          <a:xfrm>
            <a:off x="6407150" y="3435152"/>
            <a:ext cx="490537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1A6"/>
                </a:solidFill>
                <a:latin typeface="IBM Plex Sans" pitchFamily="34" charset="0"/>
                <a:ea typeface="IBM Plex Sans" pitchFamily="34" charset="-122"/>
                <a:cs typeface="IBM Plex Sans" pitchFamily="34" charset="-120"/>
              </a:rPr>
              <a:t>SOLVER BOUNDARY</a:t>
            </a:r>
            <a:endParaRPr lang="en-US" sz="1200" dirty="0"/>
          </a:p>
        </p:txBody>
      </p:sp>
      <p:sp>
        <p:nvSpPr>
          <p:cNvPr id="27" name="Text 22"/>
          <p:cNvSpPr/>
          <p:nvPr/>
        </p:nvSpPr>
        <p:spPr>
          <a:xfrm>
            <a:off x="6407150" y="3724672"/>
            <a:ext cx="4905375"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Pyomo builds the model; the configured backend solves it. A time-limited incumbent is not a proven optimum, and a heuristic has no optimality certificate.</a:t>
            </a:r>
            <a:endParaRPr lang="en-US" sz="1400" dirty="0"/>
          </a:p>
        </p:txBody>
      </p:sp>
      <p:sp>
        <p:nvSpPr>
          <p:cNvPr id="28" name="Text 23"/>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Roles from docs/ARCHITECTURE.md and src/ · implementation responsibilities, not performance claims.</a:t>
            </a:r>
            <a:endParaRPr lang="en-US" sz="1200" dirty="0"/>
          </a:p>
        </p:txBody>
      </p:sp>
      <p:sp>
        <p:nvSpPr>
          <p:cNvPr id="29" name="Text 2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5 / 21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81A"/>
                </a:solidFill>
                <a:latin typeface="IBM Plex Sans" pitchFamily="34" charset="0"/>
                <a:ea typeface="IBM Plex Sans" pitchFamily="34" charset="-122"/>
                <a:cs typeface="IBM Plex Sans" pitchFamily="34" charset="-120"/>
              </a:rPr>
              <a:t>04 · C++20 PORT</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C++20 implements the same Stage-1 heuristics</a:t>
            </a:r>
            <a:endParaRPr lang="en-US" sz="3000" dirty="0"/>
          </a:p>
        </p:txBody>
      </p:sp>
      <p:sp>
        <p:nvSpPr>
          <p:cNvPr id="4" name="Shape 2"/>
          <p:cNvSpPr/>
          <p:nvPr/>
        </p:nvSpPr>
        <p:spPr>
          <a:xfrm>
            <a:off x="812800" y="1750020"/>
            <a:ext cx="10566400" cy="2335113"/>
          </a:xfrm>
          <a:prstGeom prst="rect">
            <a:avLst/>
          </a:prstGeom>
          <a:solidFill>
            <a:srgbClr val="FDFCF9"/>
          </a:solidFill>
          <a:ln/>
        </p:spPr>
      </p:sp>
      <p:sp>
        <p:nvSpPr>
          <p:cNvPr id="5" name="Shape 3"/>
          <p:cNvSpPr/>
          <p:nvPr/>
        </p:nvSpPr>
        <p:spPr>
          <a:xfrm>
            <a:off x="11376025" y="1750020"/>
            <a:ext cx="0" cy="2335113"/>
          </a:xfrm>
          <a:prstGeom prst="line">
            <a:avLst/>
          </a:prstGeom>
          <a:noFill/>
          <a:ln w="6350">
            <a:solidFill>
              <a:srgbClr val="D9D5C8"/>
            </a:solidFill>
            <a:prstDash val="solid"/>
          </a:ln>
        </p:spPr>
      </p:sp>
      <p:sp>
        <p:nvSpPr>
          <p:cNvPr id="6" name="Shape 4"/>
          <p:cNvSpPr/>
          <p:nvPr/>
        </p:nvSpPr>
        <p:spPr>
          <a:xfrm>
            <a:off x="812800" y="4081959"/>
            <a:ext cx="10566400" cy="0"/>
          </a:xfrm>
          <a:prstGeom prst="line">
            <a:avLst/>
          </a:prstGeom>
          <a:noFill/>
          <a:ln w="6350">
            <a:solidFill>
              <a:srgbClr val="D9D5C8"/>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762720"/>
          <a:ext cx="10547350" cy="2316063"/>
        </p:xfrm>
        <a:graphic>
          <a:graphicData uri="http://schemas.openxmlformats.org/drawingml/2006/table">
            <a:tbl>
              <a:tblPr/>
              <a:tblGrid>
                <a:gridCol w="3164205"/>
                <a:gridCol w="3480625"/>
                <a:gridCol w="3902519"/>
              </a:tblGrid>
              <a:tr h="386011">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Component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Python reference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C++20 native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GH and AGH (Stage 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Reference implementation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Serial port, same decisions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Costs, traces, validation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Independent validator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Native checks; output re-validated in Python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P_DM exact MILP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Pyomo + HiGHS or Gurobi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Future work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Stage-2 operational LP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Pyomo + HiGHS or Gurobi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Future work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Experiment scheduling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6B8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6B8B0"/>
                      </a:solidFill>
                      <a:prstDash val="solid"/>
                      <a:round/>
                      <a:headEnd type="none" w="med" len="med"/>
                      <a:tailEnd type="none" w="med" len="med"/>
                    </a:lnB>
                    <a:solidFill>
                      <a:srgbClr val="F8E6DC"/>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Python experiment runners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B8B0"/>
                      </a:solidFill>
                      <a:prstDash val="solid"/>
                      <a:round/>
                      <a:headEnd type="none" w="med" len="med"/>
                      <a:tailEnd type="none" w="med" len="med"/>
                    </a:lnL>
                    <a:lnR w="12700" cap="flat" cmpd="sng" algn="ctr">
                      <a:solidFill>
                        <a:srgbClr val="C6B8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6B8B0"/>
                      </a:solidFill>
                      <a:prstDash val="solid"/>
                      <a:round/>
                      <a:headEnd type="none" w="med" len="med"/>
                      <a:tailEnd type="none" w="med" len="med"/>
                    </a:lnB>
                    <a:solidFill>
                      <a:srgbClr val="F8E6DC"/>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OpenMP across independent cases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B8B0"/>
                      </a:solidFill>
                      <a:prstDash val="solid"/>
                      <a:round/>
                      <a:headEnd type="none" w="med" len="med"/>
                      <a:tailEnd type="none" w="med" len="med"/>
                    </a:lnL>
                    <a:lnR w="12700" cap="flat" cmpd="sng" algn="ctr">
                      <a:solidFill>
                        <a:srgbClr val="C6B8B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6B8B0"/>
                      </a:solidFill>
                      <a:prstDash val="solid"/>
                      <a:round/>
                      <a:headEnd type="none" w="med" len="med"/>
                      <a:tailEnd type="none" w="med" len="med"/>
                    </a:lnB>
                    <a:solidFill>
                      <a:srgbClr val="F8E6DC"/>
                    </a:solidFill>
                  </a:tcPr>
                </a:tc>
              </a:tr>
            </a:tbl>
          </a:graphicData>
        </a:graphic>
      </p:graphicFrame>
      <p:sp>
        <p:nvSpPr>
          <p:cNvPr id="8" name="Shape 5"/>
          <p:cNvSpPr/>
          <p:nvPr/>
        </p:nvSpPr>
        <p:spPr>
          <a:xfrm>
            <a:off x="815975" y="4316909"/>
            <a:ext cx="5175250" cy="1073051"/>
          </a:xfrm>
          <a:prstGeom prst="roundRect">
            <a:avLst>
              <a:gd name="adj" fmla="val 9172"/>
            </a:avLst>
          </a:prstGeom>
          <a:solidFill>
            <a:srgbClr val="FDFCF9"/>
          </a:solidFill>
          <a:ln w="6350">
            <a:solidFill>
              <a:srgbClr val="D9D5C8"/>
            </a:solidFill>
            <a:prstDash val="solid"/>
          </a:ln>
        </p:spPr>
      </p:sp>
      <p:sp>
        <p:nvSpPr>
          <p:cNvPr id="9" name="Text 6"/>
          <p:cNvSpPr/>
          <p:nvPr/>
        </p:nvSpPr>
        <p:spPr>
          <a:xfrm>
            <a:off x="1022350" y="4472484"/>
            <a:ext cx="490537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1A6"/>
                </a:solidFill>
                <a:latin typeface="IBM Plex Sans" pitchFamily="34" charset="0"/>
                <a:ea typeface="IBM Plex Sans" pitchFamily="34" charset="-122"/>
                <a:cs typeface="IBM Plex Sans" pitchFamily="34" charset="-120"/>
              </a:rPr>
              <a:t>SAME NUMERICAL RULES</a:t>
            </a:r>
            <a:endParaRPr lang="en-US" sz="1200" dirty="0"/>
          </a:p>
        </p:txBody>
      </p:sp>
      <p:sp>
        <p:nvSpPr>
          <p:cNvPr id="10" name="Text 7"/>
          <p:cNvSpPr/>
          <p:nvPr/>
        </p:nvSpPr>
        <p:spPr>
          <a:xfrm>
            <a:off x="1022350" y="4736604"/>
            <a:ext cx="490537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Explicit owned state, deterministic ordering, Python's summation order; no fast-math or FP contraction.</a:t>
            </a:r>
            <a:endParaRPr lang="en-US" sz="1400" dirty="0"/>
          </a:p>
        </p:txBody>
      </p:sp>
      <p:sp>
        <p:nvSpPr>
          <p:cNvPr id="11" name="Shape 8"/>
          <p:cNvSpPr/>
          <p:nvPr/>
        </p:nvSpPr>
        <p:spPr>
          <a:xfrm>
            <a:off x="6200775" y="4316909"/>
            <a:ext cx="5175250" cy="1073051"/>
          </a:xfrm>
          <a:prstGeom prst="roundRect">
            <a:avLst>
              <a:gd name="adj" fmla="val 9172"/>
            </a:avLst>
          </a:prstGeom>
          <a:solidFill>
            <a:srgbClr val="FDFCF9"/>
          </a:solidFill>
          <a:ln w="6350">
            <a:solidFill>
              <a:srgbClr val="D9D5C8"/>
            </a:solidFill>
            <a:prstDash val="solid"/>
          </a:ln>
        </p:spPr>
      </p:sp>
      <p:sp>
        <p:nvSpPr>
          <p:cNvPr id="12" name="Text 9"/>
          <p:cNvSpPr/>
          <p:nvPr/>
        </p:nvSpPr>
        <p:spPr>
          <a:xfrm>
            <a:off x="6407150" y="4472484"/>
            <a:ext cx="490537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81A"/>
                </a:solidFill>
                <a:latin typeface="IBM Plex Sans" pitchFamily="34" charset="0"/>
                <a:ea typeface="IBM Plex Sans" pitchFamily="34" charset="-122"/>
                <a:cs typeface="IBM Plex Sans" pitchFamily="34" charset="-120"/>
              </a:rPr>
              <a:t>SEPARATE RESPONSIBILITIES</a:t>
            </a:r>
            <a:endParaRPr lang="en-US" sz="1200" dirty="0"/>
          </a:p>
        </p:txBody>
      </p:sp>
      <p:sp>
        <p:nvSpPr>
          <p:cNvPr id="13" name="Text 10"/>
          <p:cNvSpPr/>
          <p:nvPr/>
        </p:nvSpPr>
        <p:spPr>
          <a:xfrm>
            <a:off x="6407150" y="4736604"/>
            <a:ext cx="490537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Input preparation, algorithms, validation and campaign scheduling live in separate modules.</a:t>
            </a:r>
            <a:endParaRPr lang="en-US" sz="1400" dirty="0"/>
          </a:p>
        </p:txBody>
      </p:sp>
      <p:sp>
        <p:nvSpPr>
          <p:cNvPr id="14" name="Text 11"/>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Source: cpp/README.md and docs/ARCHITECTURE.md · commit 80a9625.</a:t>
            </a:r>
            <a:endParaRPr lang="en-US" sz="1200" dirty="0"/>
          </a:p>
        </p:txBody>
      </p:sp>
      <p:sp>
        <p:nvSpPr>
          <p:cNvPr id="15" name="Text 1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6 / 21</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81A"/>
                </a:solidFill>
                <a:latin typeface="IBM Plex Sans" pitchFamily="34" charset="0"/>
                <a:ea typeface="IBM Plex Sans" pitchFamily="34" charset="-122"/>
                <a:cs typeface="IBM Plex Sans" pitchFamily="34" charset="-120"/>
              </a:rPr>
              <a:t>05 · VERIFICATION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Verification before performance comparison</a:t>
            </a:r>
            <a:endParaRPr lang="en-US" sz="3000" dirty="0"/>
          </a:p>
        </p:txBody>
      </p:sp>
      <p:sp>
        <p:nvSpPr>
          <p:cNvPr id="4" name="Shape 2"/>
          <p:cNvSpPr/>
          <p:nvPr/>
        </p:nvSpPr>
        <p:spPr>
          <a:xfrm>
            <a:off x="812800" y="1750020"/>
            <a:ext cx="3399334" cy="1790601"/>
          </a:xfrm>
          <a:prstGeom prst="roundRect">
            <a:avLst>
              <a:gd name="adj" fmla="val 5674"/>
            </a:avLst>
          </a:prstGeom>
          <a:solidFill>
            <a:srgbClr val="14213D"/>
          </a:solidFill>
          <a:ln/>
        </p:spPr>
      </p:sp>
      <p:sp>
        <p:nvSpPr>
          <p:cNvPr id="5" name="Text 3"/>
          <p:cNvSpPr/>
          <p:nvPr/>
        </p:nvSpPr>
        <p:spPr>
          <a:xfrm>
            <a:off x="1016000" y="1953220"/>
            <a:ext cx="3082722" cy="612130"/>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F6F4EE"/>
                </a:solidFill>
                <a:latin typeface="Source Serif 4" pitchFamily="18" charset="0"/>
                <a:ea typeface="Source Serif 4" pitchFamily="18" charset="-122"/>
                <a:cs typeface="Source Serif 4" pitchFamily="18" charset="-120"/>
              </a:rPr>
              <a:t>63/63</a:t>
            </a:r>
            <a:endParaRPr lang="en-US" sz="4400" dirty="0"/>
          </a:p>
        </p:txBody>
      </p:sp>
      <p:sp>
        <p:nvSpPr>
          <p:cNvPr id="6" name="Text 4"/>
          <p:cNvSpPr/>
          <p:nvPr/>
        </p:nvSpPr>
        <p:spPr>
          <a:xfrm>
            <a:off x="1016000" y="2590750"/>
            <a:ext cx="3082722"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IBM Plex Sans" pitchFamily="34" charset="0"/>
                <a:ea typeface="IBM Plex Sans" pitchFamily="34" charset="-122"/>
                <a:cs typeface="IBM Plex Sans" pitchFamily="34" charset="-120"/>
              </a:rPr>
              <a:t>cross-language checks pass: 48 placement cases (4 frozen) and 15 seeded-shuffle checks.</a:t>
            </a:r>
            <a:endParaRPr lang="en-US" sz="1400" dirty="0"/>
          </a:p>
        </p:txBody>
      </p:sp>
      <p:sp>
        <p:nvSpPr>
          <p:cNvPr id="7" name="Shape 5"/>
          <p:cNvSpPr/>
          <p:nvPr/>
        </p:nvSpPr>
        <p:spPr>
          <a:xfrm>
            <a:off x="4389934" y="1750020"/>
            <a:ext cx="3399383" cy="1790601"/>
          </a:xfrm>
          <a:prstGeom prst="roundRect">
            <a:avLst>
              <a:gd name="adj" fmla="val 5674"/>
            </a:avLst>
          </a:prstGeom>
          <a:solidFill>
            <a:srgbClr val="14213D"/>
          </a:solidFill>
          <a:ln/>
        </p:spPr>
      </p:sp>
      <p:sp>
        <p:nvSpPr>
          <p:cNvPr id="8" name="Text 6"/>
          <p:cNvSpPr/>
          <p:nvPr/>
        </p:nvSpPr>
        <p:spPr>
          <a:xfrm>
            <a:off x="4593134" y="1953220"/>
            <a:ext cx="3082773" cy="612130"/>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F6F4EE"/>
                </a:solidFill>
                <a:latin typeface="Source Serif 4" pitchFamily="18" charset="0"/>
                <a:ea typeface="Source Serif 4" pitchFamily="18" charset="-122"/>
                <a:cs typeface="Source Serif 4" pitchFamily="18" charset="-120"/>
              </a:rPr>
              <a:t>3,023</a:t>
            </a:r>
            <a:endParaRPr lang="en-US" sz="4400" dirty="0"/>
          </a:p>
        </p:txBody>
      </p:sp>
      <p:sp>
        <p:nvSpPr>
          <p:cNvPr id="9" name="Text 7"/>
          <p:cNvSpPr/>
          <p:nvPr/>
        </p:nvSpPr>
        <p:spPr>
          <a:xfrm>
            <a:off x="4593134" y="2590750"/>
            <a:ext cx="308277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IBM Plex Sans" pitchFamily="34" charset="0"/>
                <a:ea typeface="IBM Plex Sans" pitchFamily="34" charset="-122"/>
                <a:cs typeface="IBM Plex Sans" pitchFamily="34" charset="-120"/>
              </a:rPr>
              <a:t>compared final numeric values, with zero bitwise differences.</a:t>
            </a:r>
            <a:endParaRPr lang="en-US" sz="1400" dirty="0"/>
          </a:p>
        </p:txBody>
      </p:sp>
      <p:sp>
        <p:nvSpPr>
          <p:cNvPr id="10" name="Shape 8"/>
          <p:cNvSpPr/>
          <p:nvPr/>
        </p:nvSpPr>
        <p:spPr>
          <a:xfrm>
            <a:off x="7970292" y="1753195"/>
            <a:ext cx="3405733" cy="1784251"/>
          </a:xfrm>
          <a:prstGeom prst="roundRect">
            <a:avLst>
              <a:gd name="adj" fmla="val 5516"/>
            </a:avLst>
          </a:prstGeom>
          <a:solidFill>
            <a:srgbClr val="FDFCF9"/>
          </a:solidFill>
          <a:ln w="6350">
            <a:solidFill>
              <a:srgbClr val="D9D5C8"/>
            </a:solidFill>
            <a:prstDash val="solid"/>
          </a:ln>
        </p:spPr>
      </p:sp>
      <p:sp>
        <p:nvSpPr>
          <p:cNvPr id="11" name="Text 9"/>
          <p:cNvSpPr/>
          <p:nvPr/>
        </p:nvSpPr>
        <p:spPr>
          <a:xfrm>
            <a:off x="8176667" y="1959570"/>
            <a:ext cx="308277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1A6"/>
                </a:solidFill>
                <a:latin typeface="IBM Plex Sans" pitchFamily="34" charset="0"/>
                <a:ea typeface="IBM Plex Sans" pitchFamily="34" charset="-122"/>
                <a:cs typeface="IBM Plex Sans" pitchFamily="34" charset="-120"/>
              </a:rPr>
              <a:t>TWO DISTINCT CHECKS</a:t>
            </a:r>
            <a:endParaRPr lang="en-US" sz="1200" dirty="0"/>
          </a:p>
        </p:txBody>
      </p:sp>
      <p:sp>
        <p:nvSpPr>
          <p:cNvPr id="12" name="Text 10"/>
          <p:cNvSpPr/>
          <p:nvPr/>
        </p:nvSpPr>
        <p:spPr>
          <a:xfrm>
            <a:off x="8176667" y="2249091"/>
            <a:ext cx="3082773"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Python and C++ decisions compared value by value, plus independent recomputation of constraints and objective.</a:t>
            </a:r>
            <a:endParaRPr lang="en-US" sz="1400" dirty="0"/>
          </a:p>
        </p:txBody>
      </p:sp>
      <p:sp>
        <p:nvSpPr>
          <p:cNvPr id="13" name="Shape 11"/>
          <p:cNvSpPr/>
          <p:nvPr/>
        </p:nvSpPr>
        <p:spPr>
          <a:xfrm>
            <a:off x="812800" y="3769221"/>
            <a:ext cx="6781800" cy="1379091"/>
          </a:xfrm>
          <a:prstGeom prst="roundRect">
            <a:avLst>
              <a:gd name="adj" fmla="val 7367"/>
            </a:avLst>
          </a:prstGeom>
          <a:solidFill>
            <a:srgbClr val="E3ECF7"/>
          </a:solidFill>
          <a:ln/>
        </p:spPr>
      </p:sp>
      <p:sp>
        <p:nvSpPr>
          <p:cNvPr id="14" name="Text 12"/>
          <p:cNvSpPr/>
          <p:nvPr/>
        </p:nvSpPr>
        <p:spPr>
          <a:xfrm>
            <a:off x="1016000" y="3947021"/>
            <a:ext cx="656666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1A6"/>
                </a:solidFill>
                <a:latin typeface="IBM Plex Sans" pitchFamily="34" charset="0"/>
                <a:ea typeface="IBM Plex Sans" pitchFamily="34" charset="-122"/>
                <a:cs typeface="IBM Plex Sans" pitchFamily="34" charset="-120"/>
              </a:rPr>
              <a:t>STATED COVERAGE</a:t>
            </a:r>
            <a:endParaRPr lang="en-US" sz="1200" dirty="0"/>
          </a:p>
        </p:txBody>
      </p:sp>
      <p:sp>
        <p:nvSpPr>
          <p:cNvPr id="15" name="Text 13"/>
          <p:cNvSpPr/>
          <p:nvPr/>
        </p:nvSpPr>
        <p:spPr>
          <a:xfrm>
            <a:off x="1016000" y="4211141"/>
            <a:ext cx="6566662"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Historical AGH Python runs at 256×4×4 and 128×8×8 failed with MemoryError: final-decision checks only, no Python time. In the scaling study, full parity covers 20 small points; 70 others have independent final-decision validation.</a:t>
            </a:r>
            <a:endParaRPr lang="en-US" sz="1400" dirty="0"/>
          </a:p>
        </p:txBody>
      </p:sp>
      <p:sp>
        <p:nvSpPr>
          <p:cNvPr id="16" name="Shape 14"/>
          <p:cNvSpPr/>
          <p:nvPr/>
        </p:nvSpPr>
        <p:spPr>
          <a:xfrm>
            <a:off x="7775575" y="3772396"/>
            <a:ext cx="3600450" cy="1372741"/>
          </a:xfrm>
          <a:prstGeom prst="roundRect">
            <a:avLst>
              <a:gd name="adj" fmla="val 7170"/>
            </a:avLst>
          </a:prstGeom>
          <a:solidFill>
            <a:srgbClr val="FDFCF9"/>
          </a:solidFill>
          <a:ln w="6350">
            <a:solidFill>
              <a:srgbClr val="D9D5C8"/>
            </a:solidFill>
            <a:prstDash val="solid"/>
          </a:ln>
        </p:spPr>
      </p:sp>
      <p:sp>
        <p:nvSpPr>
          <p:cNvPr id="17" name="Text 15"/>
          <p:cNvSpPr/>
          <p:nvPr/>
        </p:nvSpPr>
        <p:spPr>
          <a:xfrm>
            <a:off x="7981950" y="3953371"/>
            <a:ext cx="3283331"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F3512"/>
                </a:solidFill>
                <a:latin typeface="IBM Plex Sans" pitchFamily="34" charset="0"/>
                <a:ea typeface="IBM Plex Sans" pitchFamily="34" charset="-122"/>
                <a:cs typeface="IBM Plex Sans" pitchFamily="34" charset="-120"/>
              </a:rPr>
              <a:t>WHAT PARITY SHOWS</a:t>
            </a:r>
            <a:endParaRPr lang="en-US" sz="1200" dirty="0"/>
          </a:p>
        </p:txBody>
      </p:sp>
      <p:sp>
        <p:nvSpPr>
          <p:cNvPr id="18" name="Text 16"/>
          <p:cNvSpPr/>
          <p:nvPr/>
        </p:nvSpPr>
        <p:spPr>
          <a:xfrm>
            <a:off x="7981950" y="4217491"/>
            <a:ext cx="3283331"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The port matches the reference. It does not prove the reference matches the paper.</a:t>
            </a:r>
            <a:endParaRPr lang="en-US" sz="1400" dirty="0"/>
          </a:p>
        </p:txBody>
      </p:sp>
      <p:sp>
        <p:nvSpPr>
          <p:cNvPr id="19" name="Text 17"/>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Source: release parity check · bounded synthetic verification · commit 80a9625.</a:t>
            </a:r>
            <a:endParaRPr lang="en-US" sz="1200" dirty="0"/>
          </a:p>
        </p:txBody>
      </p:sp>
      <p:sp>
        <p:nvSpPr>
          <p:cNvPr id="20" name="Text 1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7 / 21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81A"/>
                </a:solidFill>
                <a:latin typeface="IBM Plex Sans" pitchFamily="34" charset="0"/>
                <a:ea typeface="IBM Plex Sans" pitchFamily="34" charset="-122"/>
                <a:cs typeface="IBM Plex Sans" pitchFamily="34" charset="-120"/>
              </a:rPr>
              <a:t>06 · MATCHED RUNTIME</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Matched runtime: core and complete invocation</a:t>
            </a:r>
            <a:endParaRPr lang="en-US" sz="3000" dirty="0"/>
          </a:p>
        </p:txBody>
      </p:sp>
      <p:sp>
        <p:nvSpPr>
          <p:cNvPr id="4" name="Text 2"/>
          <p:cNvSpPr/>
          <p:nvPr/>
        </p:nvSpPr>
        <p:spPr>
          <a:xfrm>
            <a:off x="812800" y="17500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AGH, 16 queries × 4 models × 4 GPU tiers, load 200 · same WSL environment · ten paired rounds per timer.</a:t>
            </a:r>
            <a:endParaRPr lang="en-US" sz="1400" dirty="0"/>
          </a:p>
        </p:txBody>
      </p:sp>
      <p:sp>
        <p:nvSpPr>
          <p:cNvPr id="5" name="Shape 3"/>
          <p:cNvSpPr/>
          <p:nvPr/>
        </p:nvSpPr>
        <p:spPr>
          <a:xfrm>
            <a:off x="815975" y="2230686"/>
            <a:ext cx="6724650" cy="3125391"/>
          </a:xfrm>
          <a:prstGeom prst="roundRect">
            <a:avLst>
              <a:gd name="adj" fmla="val 3149"/>
            </a:avLst>
          </a:prstGeom>
          <a:solidFill>
            <a:srgbClr val="FDFCF9"/>
          </a:solidFill>
          <a:ln w="6350">
            <a:solidFill>
              <a:srgbClr val="D9D5C8"/>
            </a:solidFill>
            <a:prstDash val="solid"/>
          </a:ln>
        </p:spPr>
      </p:sp>
      <p:sp>
        <p:nvSpPr>
          <p:cNvPr id="6" name="Text 4"/>
          <p:cNvSpPr/>
          <p:nvPr/>
        </p:nvSpPr>
        <p:spPr>
          <a:xfrm>
            <a:off x="1022350" y="2437061"/>
            <a:ext cx="65143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Core timer · medians: Python 8.425 s, C++ 0.0699 s</a:t>
            </a:r>
            <a:endParaRPr lang="en-US" sz="1200" dirty="0"/>
          </a:p>
        </p:txBody>
      </p:sp>
      <p:sp>
        <p:nvSpPr>
          <p:cNvPr id="7" name="Shape 5"/>
          <p:cNvSpPr/>
          <p:nvPr/>
        </p:nvSpPr>
        <p:spPr>
          <a:xfrm>
            <a:off x="1022350" y="2754561"/>
            <a:ext cx="4152900" cy="482600"/>
          </a:xfrm>
          <a:custGeom>
            <a:avLst/>
            <a:gdLst/>
            <a:ahLst/>
            <a:cxnLst/>
            <a:rect l="l" t="t" r="r" b="b"/>
            <a:pathLst>
              <a:path w="4152900" h="482600">
                <a:moveTo>
                  <a:pt x="0" y="0"/>
                </a:moveTo>
                <a:lnTo>
                  <a:pt x="4127500" y="0"/>
                </a:lnTo>
                <a:arcTo hR="25400" wR="25400" stAng="16200000" swAng="5400000"/>
                <a:lnTo>
                  <a:pt x="4152900" y="457200"/>
                </a:lnTo>
                <a:arcTo hR="25400" wR="25400" stAng="0" swAng="5400000"/>
                <a:lnTo>
                  <a:pt x="0" y="482600"/>
                </a:lnTo>
                <a:lnTo>
                  <a:pt x="0" y="0"/>
                </a:lnTo>
                <a:close/>
              </a:path>
            </a:pathLst>
          </a:custGeom>
          <a:solidFill>
            <a:srgbClr val="2561A6"/>
          </a:solidFill>
          <a:ln/>
        </p:spPr>
      </p:sp>
      <p:sp>
        <p:nvSpPr>
          <p:cNvPr id="8" name="Shape 6"/>
          <p:cNvSpPr/>
          <p:nvPr/>
        </p:nvSpPr>
        <p:spPr>
          <a:xfrm>
            <a:off x="4806950" y="2983161"/>
            <a:ext cx="736600" cy="25400"/>
          </a:xfrm>
          <a:prstGeom prst="rect">
            <a:avLst/>
          </a:prstGeom>
          <a:solidFill>
            <a:srgbClr val="14213D"/>
          </a:solidFill>
          <a:ln/>
        </p:spPr>
      </p:sp>
      <p:sp>
        <p:nvSpPr>
          <p:cNvPr id="9" name="Shape 7"/>
          <p:cNvSpPr/>
          <p:nvPr/>
        </p:nvSpPr>
        <p:spPr>
          <a:xfrm>
            <a:off x="4794250" y="2881561"/>
            <a:ext cx="25400" cy="228600"/>
          </a:xfrm>
          <a:prstGeom prst="rect">
            <a:avLst/>
          </a:prstGeom>
          <a:solidFill>
            <a:srgbClr val="14213D"/>
          </a:solidFill>
          <a:ln/>
        </p:spPr>
      </p:sp>
      <p:sp>
        <p:nvSpPr>
          <p:cNvPr id="10" name="Shape 8"/>
          <p:cNvSpPr/>
          <p:nvPr/>
        </p:nvSpPr>
        <p:spPr>
          <a:xfrm>
            <a:off x="5530850" y="2881561"/>
            <a:ext cx="25400" cy="228600"/>
          </a:xfrm>
          <a:prstGeom prst="rect">
            <a:avLst/>
          </a:prstGeom>
          <a:solidFill>
            <a:srgbClr val="14213D"/>
          </a:solidFill>
          <a:ln/>
        </p:spPr>
      </p:sp>
      <p:sp>
        <p:nvSpPr>
          <p:cNvPr id="11" name="Text 9"/>
          <p:cNvSpPr/>
          <p:nvPr/>
        </p:nvSpPr>
        <p:spPr>
          <a:xfrm>
            <a:off x="5721350" y="2691061"/>
            <a:ext cx="1676400"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4213D"/>
                </a:solidFill>
                <a:latin typeface="Source Serif 4" pitchFamily="18" charset="0"/>
                <a:ea typeface="Source Serif 4" pitchFamily="18" charset="-122"/>
                <a:cs typeface="Source Serif 4" pitchFamily="18" charset="-120"/>
              </a:rPr>
              <a:t>120.54×</a:t>
            </a:r>
            <a:endParaRPr lang="en-US" sz="2200" dirty="0"/>
          </a:p>
        </p:txBody>
      </p:sp>
      <p:sp>
        <p:nvSpPr>
          <p:cNvPr id="12" name="Text 10"/>
          <p:cNvSpPr/>
          <p:nvPr/>
        </p:nvSpPr>
        <p:spPr>
          <a:xfrm>
            <a:off x="5721350" y="3046661"/>
            <a:ext cx="1676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CI [109.75, 131.22]</a:t>
            </a:r>
            <a:endParaRPr lang="en-US" sz="1200" dirty="0"/>
          </a:p>
        </p:txBody>
      </p:sp>
      <p:sp>
        <p:nvSpPr>
          <p:cNvPr id="13" name="Text 11"/>
          <p:cNvSpPr/>
          <p:nvPr/>
        </p:nvSpPr>
        <p:spPr>
          <a:xfrm>
            <a:off x="1022350" y="3643561"/>
            <a:ext cx="65143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Complete invocation · medians: Python 9.884 s, C++ 0.0991 s</a:t>
            </a:r>
            <a:endParaRPr lang="en-US" sz="1200" dirty="0"/>
          </a:p>
        </p:txBody>
      </p:sp>
      <p:sp>
        <p:nvSpPr>
          <p:cNvPr id="14" name="Shape 12"/>
          <p:cNvSpPr/>
          <p:nvPr/>
        </p:nvSpPr>
        <p:spPr>
          <a:xfrm>
            <a:off x="1022350" y="3961061"/>
            <a:ext cx="3435350" cy="482600"/>
          </a:xfrm>
          <a:custGeom>
            <a:avLst/>
            <a:gdLst/>
            <a:ahLst/>
            <a:cxnLst/>
            <a:rect l="l" t="t" r="r" b="b"/>
            <a:pathLst>
              <a:path w="3435350" h="482600">
                <a:moveTo>
                  <a:pt x="0" y="0"/>
                </a:moveTo>
                <a:lnTo>
                  <a:pt x="3409950" y="0"/>
                </a:lnTo>
                <a:arcTo hR="25400" wR="25400" stAng="16200000" swAng="5400000"/>
                <a:lnTo>
                  <a:pt x="3435350" y="457200"/>
                </a:lnTo>
                <a:arcTo hR="25400" wR="25400" stAng="0" swAng="5400000"/>
                <a:lnTo>
                  <a:pt x="0" y="482600"/>
                </a:lnTo>
                <a:lnTo>
                  <a:pt x="0" y="0"/>
                </a:lnTo>
                <a:close/>
              </a:path>
            </a:pathLst>
          </a:custGeom>
          <a:solidFill>
            <a:srgbClr val="2561A6"/>
          </a:solidFill>
          <a:ln/>
        </p:spPr>
      </p:sp>
      <p:sp>
        <p:nvSpPr>
          <p:cNvPr id="15" name="Shape 13"/>
          <p:cNvSpPr/>
          <p:nvPr/>
        </p:nvSpPr>
        <p:spPr>
          <a:xfrm>
            <a:off x="4235450" y="4189661"/>
            <a:ext cx="482600" cy="25400"/>
          </a:xfrm>
          <a:prstGeom prst="rect">
            <a:avLst/>
          </a:prstGeom>
          <a:solidFill>
            <a:srgbClr val="14213D"/>
          </a:solidFill>
          <a:ln/>
        </p:spPr>
      </p:sp>
      <p:sp>
        <p:nvSpPr>
          <p:cNvPr id="16" name="Shape 14"/>
          <p:cNvSpPr/>
          <p:nvPr/>
        </p:nvSpPr>
        <p:spPr>
          <a:xfrm>
            <a:off x="4222750" y="4088061"/>
            <a:ext cx="25400" cy="228600"/>
          </a:xfrm>
          <a:prstGeom prst="rect">
            <a:avLst/>
          </a:prstGeom>
          <a:solidFill>
            <a:srgbClr val="14213D"/>
          </a:solidFill>
          <a:ln/>
        </p:spPr>
      </p:sp>
      <p:sp>
        <p:nvSpPr>
          <p:cNvPr id="17" name="Shape 15"/>
          <p:cNvSpPr/>
          <p:nvPr/>
        </p:nvSpPr>
        <p:spPr>
          <a:xfrm>
            <a:off x="4705350" y="4088061"/>
            <a:ext cx="25400" cy="228600"/>
          </a:xfrm>
          <a:prstGeom prst="rect">
            <a:avLst/>
          </a:prstGeom>
          <a:solidFill>
            <a:srgbClr val="14213D"/>
          </a:solidFill>
          <a:ln/>
        </p:spPr>
      </p:sp>
      <p:sp>
        <p:nvSpPr>
          <p:cNvPr id="18" name="Text 16"/>
          <p:cNvSpPr/>
          <p:nvPr/>
        </p:nvSpPr>
        <p:spPr>
          <a:xfrm>
            <a:off x="5721350" y="3897561"/>
            <a:ext cx="1676400"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4213D"/>
                </a:solidFill>
                <a:latin typeface="Source Serif 4" pitchFamily="18" charset="0"/>
                <a:ea typeface="Source Serif 4" pitchFamily="18" charset="-122"/>
                <a:cs typeface="Source Serif 4" pitchFamily="18" charset="-120"/>
              </a:rPr>
              <a:t>99.70×</a:t>
            </a:r>
            <a:endParaRPr lang="en-US" sz="2200" dirty="0"/>
          </a:p>
        </p:txBody>
      </p:sp>
      <p:sp>
        <p:nvSpPr>
          <p:cNvPr id="19" name="Text 17"/>
          <p:cNvSpPr/>
          <p:nvPr/>
        </p:nvSpPr>
        <p:spPr>
          <a:xfrm>
            <a:off x="5721350" y="4253161"/>
            <a:ext cx="1676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CI [93.26, 107.26]</a:t>
            </a:r>
            <a:endParaRPr lang="en-US" sz="1200" dirty="0"/>
          </a:p>
        </p:txBody>
      </p:sp>
      <p:sp>
        <p:nvSpPr>
          <p:cNvPr id="20" name="Text 18"/>
          <p:cNvSpPr/>
          <p:nvPr/>
        </p:nvSpPr>
        <p:spPr>
          <a:xfrm>
            <a:off x="1022350" y="4723061"/>
            <a:ext cx="650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Bars: Python/C++ ratio of medians, common scale. Whiskers: 95% paired-round percentile bootstrap, 10,000 resamples.</a:t>
            </a:r>
            <a:endParaRPr lang="en-US" sz="1200" dirty="0"/>
          </a:p>
        </p:txBody>
      </p:sp>
      <p:sp>
        <p:nvSpPr>
          <p:cNvPr id="21" name="Shape 19"/>
          <p:cNvSpPr/>
          <p:nvPr/>
        </p:nvSpPr>
        <p:spPr>
          <a:xfrm>
            <a:off x="7800975" y="2230686"/>
            <a:ext cx="3575050" cy="1428552"/>
          </a:xfrm>
          <a:prstGeom prst="roundRect">
            <a:avLst>
              <a:gd name="adj" fmla="val 6890"/>
            </a:avLst>
          </a:prstGeom>
          <a:solidFill>
            <a:srgbClr val="FDFCF9"/>
          </a:solidFill>
          <a:ln w="6350">
            <a:solidFill>
              <a:srgbClr val="D9D5C8"/>
            </a:solidFill>
            <a:prstDash val="solid"/>
          </a:ln>
        </p:spPr>
      </p:sp>
      <p:sp>
        <p:nvSpPr>
          <p:cNvPr id="22" name="Text 20"/>
          <p:cNvSpPr/>
          <p:nvPr/>
        </p:nvSpPr>
        <p:spPr>
          <a:xfrm>
            <a:off x="7981950" y="2386261"/>
            <a:ext cx="330949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1A6"/>
                </a:solidFill>
                <a:latin typeface="IBM Plex Sans" pitchFamily="34" charset="0"/>
                <a:ea typeface="IBM Plex Sans" pitchFamily="34" charset="-122"/>
                <a:cs typeface="IBM Plex Sans" pitchFamily="34" charset="-120"/>
              </a:rPr>
              <a:t>TWO SEPARATE TIMERS</a:t>
            </a:r>
            <a:endParaRPr lang="en-US" sz="1200" dirty="0"/>
          </a:p>
        </p:txBody>
      </p:sp>
      <p:sp>
        <p:nvSpPr>
          <p:cNvPr id="23" name="Text 21"/>
          <p:cNvSpPr/>
          <p:nvPr/>
        </p:nvSpPr>
        <p:spPr>
          <a:xfrm>
            <a:off x="7981950" y="2650381"/>
            <a:ext cx="3309493" cy="87868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Core:</a:t>
            </a:r>
            <a:r>
              <a:rPr lang="en-US" sz="1200" dirty="0">
                <a:solidFill>
                  <a:srgbClr val="4A5568"/>
                </a:solidFill>
                <a:latin typeface="IBM Plex Sans" pitchFamily="34" charset="0"/>
                <a:ea typeface="IBM Plex Sans" pitchFamily="34" charset="-122"/>
                <a:cs typeface="IBM Plex Sans" pitchFamily="34" charset="-120"/>
              </a:rPr>
              <a:t> fresh public solve with traces and validation; excludes startup, parsing and output. </a:t>
            </a:r>
            <a:r>
              <a:rPr lang="en-US" sz="1200" b="1" dirty="0">
                <a:solidFill>
                  <a:srgbClr val="4A5568"/>
                </a:solidFill>
                <a:latin typeface="IBM Plex Sans" pitchFamily="34" charset="0"/>
                <a:ea typeface="IBM Plex Sans" pitchFamily="34" charset="-122"/>
                <a:cs typeface="IBM Plex Sans" pitchFamily="34" charset="-120"/>
              </a:rPr>
              <a:t>Invocation:</a:t>
            </a:r>
            <a:r>
              <a:rPr lang="en-US" sz="1200" dirty="0">
                <a:solidFill>
                  <a:srgbClr val="4A5568"/>
                </a:solidFill>
                <a:latin typeface="IBM Plex Sans" pitchFamily="34" charset="0"/>
                <a:ea typeface="IBM Plex Sans" pitchFamily="34" charset="-122"/>
                <a:cs typeface="IBM Plex Sans" pitchFamily="34" charset="-120"/>
              </a:rPr>
              <a:t> a Linux subprocess from startup to exit.</a:t>
            </a:r>
            <a:endParaRPr lang="en-US" sz="1200" dirty="0"/>
          </a:p>
        </p:txBody>
      </p:sp>
      <p:sp>
        <p:nvSpPr>
          <p:cNvPr id="24" name="Shape 22"/>
          <p:cNvSpPr/>
          <p:nvPr/>
        </p:nvSpPr>
        <p:spPr>
          <a:xfrm>
            <a:off x="7797800" y="3764012"/>
            <a:ext cx="3581400" cy="1595239"/>
          </a:xfrm>
          <a:prstGeom prst="roundRect">
            <a:avLst>
              <a:gd name="adj" fmla="val 6369"/>
            </a:avLst>
          </a:prstGeom>
          <a:solidFill>
            <a:srgbClr val="14213D"/>
          </a:solidFill>
          <a:ln/>
        </p:spPr>
      </p:sp>
      <p:sp>
        <p:nvSpPr>
          <p:cNvPr id="25" name="Text 23"/>
          <p:cNvSpPr/>
          <p:nvPr/>
        </p:nvSpPr>
        <p:spPr>
          <a:xfrm>
            <a:off x="7975600" y="3916412"/>
            <a:ext cx="332257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27A"/>
                </a:solidFill>
                <a:latin typeface="IBM Plex Sans" pitchFamily="34" charset="0"/>
                <a:ea typeface="IBM Plex Sans" pitchFamily="34" charset="-122"/>
                <a:cs typeface="IBM Plex Sans" pitchFamily="34" charset="-120"/>
              </a:rPr>
              <a:t>NOT A PURE LANGUAGE EFFECT</a:t>
            </a:r>
            <a:endParaRPr lang="en-US" sz="1200" dirty="0"/>
          </a:p>
        </p:txBody>
      </p:sp>
      <p:sp>
        <p:nvSpPr>
          <p:cNvPr id="26" name="Text 24"/>
          <p:cNvSpPr/>
          <p:nvPr/>
        </p:nvSpPr>
        <p:spPr>
          <a:xfrm>
            <a:off x="7975600" y="4180532"/>
            <a:ext cx="3322574"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Python validates input and builds PdmProblemData inside its timed call; C++ receives a prepared coefficient lattice. Trace costs also differ.</a:t>
            </a:r>
            <a:endParaRPr lang="en-US" sz="1200" dirty="0"/>
          </a:p>
        </p:txBody>
      </p:sp>
      <p:sp>
        <p:nvSpPr>
          <p:cNvPr id="27" name="Text 25"/>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Source: WP1 matched-runtime analysis · i7-13620H, WSL · commit 80a9625.</a:t>
            </a:r>
            <a:endParaRPr lang="en-US" sz="1200" dirty="0"/>
          </a:p>
        </p:txBody>
      </p:sp>
      <p:sp>
        <p:nvSpPr>
          <p:cNvPr id="28" name="Text 2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8 / 21</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81A"/>
                </a:solidFill>
                <a:latin typeface="IBM Plex Sans" pitchFamily="34" charset="0"/>
                <a:ea typeface="IBM Plex Sans" pitchFamily="34" charset="-122"/>
                <a:cs typeface="IBM Plex Sans" pitchFamily="34" charset="-120"/>
              </a:rPr>
              <a:t>07 · SCALING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Native scaling across seeded instances</a:t>
            </a:r>
            <a:endParaRPr lang="en-US" sz="3000" dirty="0"/>
          </a:p>
        </p:txBody>
      </p:sp>
      <p:sp>
        <p:nvSpPr>
          <p:cNvPr id="4" name="Shape 2"/>
          <p:cNvSpPr/>
          <p:nvPr/>
        </p:nvSpPr>
        <p:spPr>
          <a:xfrm>
            <a:off x="812800" y="1750020"/>
            <a:ext cx="6985000" cy="3302000"/>
          </a:xfrm>
          <a:prstGeom prst="roundRect">
            <a:avLst>
              <a:gd name="adj" fmla="val 3077"/>
            </a:avLst>
          </a:prstGeom>
          <a:solidFill>
            <a:srgbClr val="FFFFFF"/>
          </a:solidFill>
          <a:ln/>
        </p:spPr>
      </p:sp>
      <p:pic>
        <p:nvPicPr>
          <p:cNvPr id="5" name="Image 0" descr="Median native core time per instance against query count from 16 to 384 at a 4 by 4 menu, log-log axes, five input seeds; AGH slope 1.94 and GH slope 1.66 with 95% bands; filled points have full Python parity, open points independent final-decision checks">    </p:cNvPr>
          <p:cNvPicPr>
            <a:picLocks noChangeAspect="1"/>
          </p:cNvPicPr>
          <p:nvPr/>
        </p:nvPicPr>
        <p:blipFill>
          <a:blip r:embed="rId1"/>
          <a:srcRect l="-102" r="-102" t="0" b="0"/>
          <a:stretch/>
        </p:blipFill>
        <p:spPr>
          <a:xfrm>
            <a:off x="819150" y="1756370"/>
            <a:ext cx="6972300" cy="3289300"/>
          </a:xfrm>
          <a:prstGeom prst="roundRect">
            <a:avLst>
              <a:gd name="adj" fmla="val 2896"/>
            </a:avLst>
          </a:prstGeom>
        </p:spPr>
      </p:pic>
      <p:sp>
        <p:nvSpPr>
          <p:cNvPr id="6" name="Shape 3"/>
          <p:cNvSpPr/>
          <p:nvPr/>
        </p:nvSpPr>
        <p:spPr>
          <a:xfrm>
            <a:off x="815975" y="1753195"/>
            <a:ext cx="6978650" cy="3295650"/>
          </a:xfrm>
          <a:prstGeom prst="roundRect">
            <a:avLst>
              <a:gd name="adj" fmla="val 2987"/>
            </a:avLst>
          </a:prstGeom>
          <a:noFill/>
          <a:ln w="6350">
            <a:solidFill>
              <a:srgbClr val="D9D5C8"/>
            </a:solidFill>
            <a:prstDash val="solid"/>
          </a:ln>
        </p:spPr>
      </p:sp>
      <p:sp>
        <p:nvSpPr>
          <p:cNvPr id="7" name="Text 4"/>
          <p:cNvSpPr/>
          <p:nvPr/>
        </p:nvSpPr>
        <p:spPr>
          <a:xfrm>
            <a:off x="812800" y="5392043"/>
            <a:ext cx="71945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Filled points: full Python parity (16 and 32 queries). Open points: independent final-decision checks. Fits describe the measured range, not asymptotic complexity.</a:t>
            </a:r>
            <a:endParaRPr lang="en-US" sz="1200" dirty="0"/>
          </a:p>
        </p:txBody>
      </p:sp>
      <p:sp>
        <p:nvSpPr>
          <p:cNvPr id="8" name="Shape 5"/>
          <p:cNvSpPr/>
          <p:nvPr/>
        </p:nvSpPr>
        <p:spPr>
          <a:xfrm>
            <a:off x="8054975" y="1753195"/>
            <a:ext cx="3321050" cy="1428601"/>
          </a:xfrm>
          <a:prstGeom prst="roundRect">
            <a:avLst>
              <a:gd name="adj" fmla="val 6890"/>
            </a:avLst>
          </a:prstGeom>
          <a:solidFill>
            <a:srgbClr val="FDFCF9"/>
          </a:solidFill>
          <a:ln w="6350">
            <a:solidFill>
              <a:srgbClr val="D9D5C8"/>
            </a:solidFill>
            <a:prstDash val="solid"/>
          </a:ln>
        </p:spPr>
      </p:sp>
      <p:sp>
        <p:nvSpPr>
          <p:cNvPr id="9" name="Text 6"/>
          <p:cNvSpPr/>
          <p:nvPr/>
        </p:nvSpPr>
        <p:spPr>
          <a:xfrm>
            <a:off x="8235950" y="1908770"/>
            <a:ext cx="30478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GH slope</a:t>
            </a:r>
            <a:endParaRPr lang="en-US" sz="1200" dirty="0"/>
          </a:p>
        </p:txBody>
      </p:sp>
      <p:sp>
        <p:nvSpPr>
          <p:cNvPr id="10" name="Text 7"/>
          <p:cNvSpPr/>
          <p:nvPr/>
        </p:nvSpPr>
        <p:spPr>
          <a:xfrm>
            <a:off x="8235950" y="2147491"/>
            <a:ext cx="3047873"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14213D"/>
                </a:solidFill>
                <a:latin typeface="Source Serif 4" pitchFamily="18" charset="0"/>
                <a:ea typeface="Source Serif 4" pitchFamily="18" charset="-122"/>
                <a:cs typeface="Source Serif 4" pitchFamily="18" charset="-120"/>
              </a:rPr>
              <a:t>1.6615</a:t>
            </a:r>
            <a:endParaRPr lang="en-US" sz="3200" dirty="0"/>
          </a:p>
        </p:txBody>
      </p:sp>
      <p:sp>
        <p:nvSpPr>
          <p:cNvPr id="11" name="Text 8"/>
          <p:cNvSpPr/>
          <p:nvPr/>
        </p:nvSpPr>
        <p:spPr>
          <a:xfrm>
            <a:off x="8235950" y="2599581"/>
            <a:ext cx="304787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CI [1.6402, 1.6798] · R² 0.9903 · ≈3.2× time per doubling</a:t>
            </a:r>
            <a:endParaRPr lang="en-US" sz="1200" dirty="0"/>
          </a:p>
        </p:txBody>
      </p:sp>
      <p:sp>
        <p:nvSpPr>
          <p:cNvPr id="12" name="Shape 9"/>
          <p:cNvSpPr/>
          <p:nvPr/>
        </p:nvSpPr>
        <p:spPr>
          <a:xfrm>
            <a:off x="8051800" y="3286571"/>
            <a:ext cx="3327400" cy="1422251"/>
          </a:xfrm>
          <a:prstGeom prst="roundRect">
            <a:avLst>
              <a:gd name="adj" fmla="val 7144"/>
            </a:avLst>
          </a:prstGeom>
          <a:solidFill>
            <a:srgbClr val="14213D"/>
          </a:solidFill>
          <a:ln/>
        </p:spPr>
      </p:sp>
      <p:sp>
        <p:nvSpPr>
          <p:cNvPr id="13" name="Text 10"/>
          <p:cNvSpPr/>
          <p:nvPr/>
        </p:nvSpPr>
        <p:spPr>
          <a:xfrm>
            <a:off x="8229600" y="3438971"/>
            <a:ext cx="30609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27A"/>
                </a:solidFill>
                <a:latin typeface="IBM Plex Sans" pitchFamily="34" charset="0"/>
                <a:ea typeface="IBM Plex Sans" pitchFamily="34" charset="-122"/>
                <a:cs typeface="IBM Plex Sans" pitchFamily="34" charset="-120"/>
              </a:rPr>
              <a:t>AGH slope</a:t>
            </a:r>
            <a:endParaRPr lang="en-US" sz="1200" dirty="0"/>
          </a:p>
        </p:txBody>
      </p:sp>
      <p:sp>
        <p:nvSpPr>
          <p:cNvPr id="14" name="Text 11"/>
          <p:cNvSpPr/>
          <p:nvPr/>
        </p:nvSpPr>
        <p:spPr>
          <a:xfrm>
            <a:off x="8229600" y="3677692"/>
            <a:ext cx="3060954"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F6F4EE"/>
                </a:solidFill>
                <a:latin typeface="Source Serif 4" pitchFamily="18" charset="0"/>
                <a:ea typeface="Source Serif 4" pitchFamily="18" charset="-122"/>
                <a:cs typeface="Source Serif 4" pitchFamily="18" charset="-120"/>
              </a:rPr>
              <a:t>1.9402</a:t>
            </a:r>
            <a:endParaRPr lang="en-US" sz="3200" dirty="0"/>
          </a:p>
        </p:txBody>
      </p:sp>
      <p:sp>
        <p:nvSpPr>
          <p:cNvPr id="15" name="Text 12"/>
          <p:cNvSpPr/>
          <p:nvPr/>
        </p:nvSpPr>
        <p:spPr>
          <a:xfrm>
            <a:off x="8229600" y="4129782"/>
            <a:ext cx="30609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CI [1.9254, 1.9600] · R² 0.9975 · ≈3.8× time per doubling</a:t>
            </a:r>
            <a:endParaRPr lang="en-US" sz="1200" dirty="0"/>
          </a:p>
        </p:txBody>
      </p:sp>
      <p:sp>
        <p:nvSpPr>
          <p:cNvPr id="16" name="Shape 13"/>
          <p:cNvSpPr/>
          <p:nvPr/>
        </p:nvSpPr>
        <p:spPr>
          <a:xfrm>
            <a:off x="8054975" y="4813598"/>
            <a:ext cx="3321050" cy="1001911"/>
          </a:xfrm>
          <a:prstGeom prst="roundRect">
            <a:avLst>
              <a:gd name="adj" fmla="val 9824"/>
            </a:avLst>
          </a:prstGeom>
          <a:solidFill>
            <a:srgbClr val="FDFCF9"/>
          </a:solidFill>
          <a:ln w="6350">
            <a:solidFill>
              <a:srgbClr val="D9D5C8"/>
            </a:solidFill>
            <a:prstDash val="solid"/>
          </a:ln>
        </p:spPr>
      </p:sp>
      <p:sp>
        <p:nvSpPr>
          <p:cNvPr id="17" name="Text 14"/>
          <p:cNvSpPr/>
          <p:nvPr/>
        </p:nvSpPr>
        <p:spPr>
          <a:xfrm>
            <a:off x="8235950" y="4969173"/>
            <a:ext cx="304787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1A6"/>
                </a:solidFill>
                <a:latin typeface="IBM Plex Sans" pitchFamily="34" charset="0"/>
                <a:ea typeface="IBM Plex Sans" pitchFamily="34" charset="-122"/>
                <a:cs typeface="IBM Plex Sans" pitchFamily="34" charset="-120"/>
              </a:rPr>
              <a:t>DESIGN</a:t>
            </a:r>
            <a:endParaRPr lang="en-US" sz="1200" dirty="0"/>
          </a:p>
        </p:txBody>
      </p:sp>
      <p:sp>
        <p:nvSpPr>
          <p:cNvPr id="18" name="Text 15"/>
          <p:cNvSpPr/>
          <p:nvPr/>
        </p:nvSpPr>
        <p:spPr>
          <a:xfrm>
            <a:off x="8235950" y="5233293"/>
            <a:ext cx="304787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Six sizes, five input seeds each · median of three core solves per instance.</a:t>
            </a:r>
            <a:endParaRPr lang="en-US" sz="1200" dirty="0"/>
          </a:p>
        </p:txBody>
      </p:sp>
      <p:sp>
        <p:nvSpPr>
          <p:cNvPr id="19" name="Text 16"/>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Source: WP5 instance-scaling analysis · 5 seed clusters, 10,000 draws · commit 80a9625.</a:t>
            </a:r>
            <a:endParaRPr lang="en-US" sz="1200" dirty="0"/>
          </a:p>
        </p:txBody>
      </p:sp>
      <p:sp>
        <p:nvSpPr>
          <p:cNvPr id="20" name="Text 1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9 / 21</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81A"/>
                </a:solidFill>
                <a:latin typeface="IBM Plex Sans" pitchFamily="34" charset="0"/>
                <a:ea typeface="IBM Plex Sans" pitchFamily="34" charset="-122"/>
                <a:cs typeface="IBM Plex Sans" pitchFamily="34" charset="-120"/>
              </a:rPr>
              <a:t>08 · OPENMP</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OpenMP runs independent cases concurrently</a:t>
            </a:r>
            <a:endParaRPr lang="en-US" sz="3000" dirty="0"/>
          </a:p>
        </p:txBody>
      </p:sp>
      <p:sp>
        <p:nvSpPr>
          <p:cNvPr id="4" name="Shape 2"/>
          <p:cNvSpPr/>
          <p:nvPr/>
        </p:nvSpPr>
        <p:spPr>
          <a:xfrm>
            <a:off x="812800" y="1750020"/>
            <a:ext cx="6604000" cy="3365500"/>
          </a:xfrm>
          <a:prstGeom prst="roundRect">
            <a:avLst>
              <a:gd name="adj" fmla="val 3019"/>
            </a:avLst>
          </a:prstGeom>
          <a:solidFill>
            <a:srgbClr val="FFFFFF"/>
          </a:solidFill>
          <a:ln/>
        </p:spPr>
      </p:sp>
      <p:pic>
        <p:nvPicPr>
          <p:cNvPr id="5" name="Image 0" descr="Core speedup against thread count for static, dynamic and guided schedules on a fixed 32-case batch, each against its own one-thread control, with 95% intervals; dynamic reaches 4.02 at 8 threads">    </p:cNvPr>
          <p:cNvPicPr>
            <a:picLocks noChangeAspect="1"/>
          </p:cNvPicPr>
          <p:nvPr/>
        </p:nvPicPr>
        <p:blipFill>
          <a:blip r:embed="rId1"/>
          <a:srcRect l="-41" r="-41" t="0" b="0"/>
          <a:stretch/>
        </p:blipFill>
        <p:spPr>
          <a:xfrm>
            <a:off x="819150" y="1756370"/>
            <a:ext cx="6591300" cy="3352800"/>
          </a:xfrm>
          <a:prstGeom prst="roundRect">
            <a:avLst>
              <a:gd name="adj" fmla="val 2841"/>
            </a:avLst>
          </a:prstGeom>
        </p:spPr>
      </p:pic>
      <p:sp>
        <p:nvSpPr>
          <p:cNvPr id="6" name="Shape 3"/>
          <p:cNvSpPr/>
          <p:nvPr/>
        </p:nvSpPr>
        <p:spPr>
          <a:xfrm>
            <a:off x="815975" y="1753195"/>
            <a:ext cx="6597650" cy="3359150"/>
          </a:xfrm>
          <a:prstGeom prst="roundRect">
            <a:avLst>
              <a:gd name="adj" fmla="val 2930"/>
            </a:avLst>
          </a:prstGeom>
          <a:noFill/>
          <a:ln w="6350">
            <a:solidFill>
              <a:srgbClr val="D9D5C8"/>
            </a:solidFill>
            <a:prstDash val="solid"/>
          </a:ln>
        </p:spPr>
      </p:sp>
      <p:sp>
        <p:nvSpPr>
          <p:cNvPr id="7" name="Text 4"/>
          <p:cNvSpPr/>
          <p:nvPr/>
        </p:nvSpPr>
        <p:spPr>
          <a:xfrm>
            <a:off x="812800" y="5217120"/>
            <a:ext cx="68021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Fixed mixed batch of 32 GH/AGH cases · cores/close · chunk 1 · unsorted · default allocator · 30 paired core rounds.</a:t>
            </a:r>
            <a:endParaRPr lang="en-US" sz="1200" dirty="0"/>
          </a:p>
        </p:txBody>
      </p:sp>
      <p:sp>
        <p:nvSpPr>
          <p:cNvPr id="8" name="Shape 5"/>
          <p:cNvSpPr/>
          <p:nvPr/>
        </p:nvSpPr>
        <p:spPr>
          <a:xfrm>
            <a:off x="7670800" y="1750020"/>
            <a:ext cx="3708400" cy="1183531"/>
          </a:xfrm>
          <a:prstGeom prst="roundRect">
            <a:avLst>
              <a:gd name="adj" fmla="val 8584"/>
            </a:avLst>
          </a:prstGeom>
          <a:solidFill>
            <a:srgbClr val="14213D"/>
          </a:solidFill>
          <a:ln/>
        </p:spPr>
      </p:sp>
      <p:sp>
        <p:nvSpPr>
          <p:cNvPr id="9" name="Text 6"/>
          <p:cNvSpPr/>
          <p:nvPr/>
        </p:nvSpPr>
        <p:spPr>
          <a:xfrm>
            <a:off x="7848600" y="1902420"/>
            <a:ext cx="3453384"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F6F4EE"/>
                </a:solidFill>
                <a:latin typeface="Source Serif 4" pitchFamily="18" charset="0"/>
                <a:ea typeface="Source Serif 4" pitchFamily="18" charset="-122"/>
                <a:cs typeface="Source Serif 4" pitchFamily="18" charset="-120"/>
              </a:rPr>
              <a:t>4.02×</a:t>
            </a:r>
            <a:endParaRPr lang="en-US" sz="3200" dirty="0"/>
          </a:p>
        </p:txBody>
      </p:sp>
      <p:sp>
        <p:nvSpPr>
          <p:cNvPr id="10" name="Text 7"/>
          <p:cNvSpPr/>
          <p:nvPr/>
        </p:nvSpPr>
        <p:spPr>
          <a:xfrm>
            <a:off x="7848600" y="2354511"/>
            <a:ext cx="34533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8 threads, dynamic, vs its own one-thread control · 95% CI [3.76, 4.42]</a:t>
            </a:r>
            <a:endParaRPr lang="en-US" sz="1200" dirty="0"/>
          </a:p>
        </p:txBody>
      </p:sp>
      <p:sp>
        <p:nvSpPr>
          <p:cNvPr id="11" name="Shape 8"/>
          <p:cNvSpPr/>
          <p:nvPr/>
        </p:nvSpPr>
        <p:spPr>
          <a:xfrm>
            <a:off x="7673975" y="3038326"/>
            <a:ext cx="3702050" cy="976561"/>
          </a:xfrm>
          <a:prstGeom prst="roundRect">
            <a:avLst>
              <a:gd name="adj" fmla="val 10079"/>
            </a:avLst>
          </a:prstGeom>
          <a:solidFill>
            <a:srgbClr val="FDFCF9"/>
          </a:solidFill>
          <a:ln w="6350">
            <a:solidFill>
              <a:srgbClr val="D9D5C8"/>
            </a:solidFill>
            <a:prstDash val="solid"/>
          </a:ln>
        </p:spPr>
      </p:sp>
      <p:sp>
        <p:nvSpPr>
          <p:cNvPr id="12" name="Text 9"/>
          <p:cNvSpPr/>
          <p:nvPr/>
        </p:nvSpPr>
        <p:spPr>
          <a:xfrm>
            <a:off x="7854950" y="3193901"/>
            <a:ext cx="3440303"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14213D"/>
                </a:solidFill>
                <a:latin typeface="Source Serif 4" pitchFamily="18" charset="0"/>
                <a:ea typeface="Source Serif 4" pitchFamily="18" charset="-122"/>
                <a:cs typeface="Source Serif 4" pitchFamily="18" charset="-120"/>
              </a:rPr>
              <a:t>50.28%</a:t>
            </a:r>
            <a:endParaRPr lang="en-US" sz="3200" dirty="0"/>
          </a:p>
        </p:txBody>
      </p:sp>
      <p:sp>
        <p:nvSpPr>
          <p:cNvPr id="13" name="Text 10"/>
          <p:cNvSpPr/>
          <p:nvPr/>
        </p:nvSpPr>
        <p:spPr>
          <a:xfrm>
            <a:off x="7854950" y="3645991"/>
            <a:ext cx="34403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efficiency = speedup / 8</a:t>
            </a:r>
            <a:endParaRPr lang="en-US" sz="1200" dirty="0"/>
          </a:p>
        </p:txBody>
      </p:sp>
      <p:sp>
        <p:nvSpPr>
          <p:cNvPr id="14" name="Shape 11"/>
          <p:cNvSpPr/>
          <p:nvPr/>
        </p:nvSpPr>
        <p:spPr>
          <a:xfrm>
            <a:off x="7673975" y="4122837"/>
            <a:ext cx="3702050" cy="1517749"/>
          </a:xfrm>
          <a:prstGeom prst="roundRect">
            <a:avLst>
              <a:gd name="adj" fmla="val 6485"/>
            </a:avLst>
          </a:prstGeom>
          <a:solidFill>
            <a:srgbClr val="FDFCF9"/>
          </a:solidFill>
          <a:ln w="6350">
            <a:solidFill>
              <a:srgbClr val="D9D5C8"/>
            </a:solidFill>
            <a:prstDash val="solid"/>
          </a:ln>
        </p:spPr>
      </p:sp>
      <p:sp>
        <p:nvSpPr>
          <p:cNvPr id="15" name="Text 12"/>
          <p:cNvSpPr/>
          <p:nvPr/>
        </p:nvSpPr>
        <p:spPr>
          <a:xfrm>
            <a:off x="7854950" y="4278412"/>
            <a:ext cx="344030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1A6"/>
                </a:solidFill>
                <a:latin typeface="IBM Plex Sans" pitchFamily="34" charset="0"/>
                <a:ea typeface="IBM Plex Sans" pitchFamily="34" charset="-122"/>
                <a:cs typeface="IBM Plex Sans" pitchFamily="34" charset="-120"/>
              </a:rPr>
              <a:t>WORK UNIT</a:t>
            </a:r>
            <a:endParaRPr lang="en-US" sz="1200" dirty="0"/>
          </a:p>
        </p:txBody>
      </p:sp>
      <p:sp>
        <p:nvSpPr>
          <p:cNvPr id="16" name="Text 13"/>
          <p:cNvSpPr/>
          <p:nvPr/>
        </p:nvSpPr>
        <p:spPr>
          <a:xfrm>
            <a:off x="7854950" y="4542532"/>
            <a:ext cx="3440303"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One independent allocation case per task. Each GH/AGH solve stays serial; this is batch throughput, not a faster single solve or GPU inference.</a:t>
            </a:r>
            <a:endParaRPr lang="en-US" sz="1200" dirty="0"/>
          </a:p>
        </p:txBody>
      </p:sp>
      <p:sp>
        <p:nvSpPr>
          <p:cNvPr id="17" name="Text 14"/>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Source: WP2 OpenMP analysis · i7-13620H, WSL · commit 80a9625.</a:t>
            </a:r>
            <a:endParaRPr lang="en-US" sz="1200" dirty="0"/>
          </a:p>
        </p:txBody>
      </p:sp>
      <p:sp>
        <p:nvSpPr>
          <p:cNvPr id="18" name="Text 1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10 / 21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81A"/>
                </a:solidFill>
                <a:latin typeface="IBM Plex Sans" pitchFamily="34" charset="0"/>
                <a:ea typeface="IBM Plex Sans" pitchFamily="34" charset="-122"/>
                <a:cs typeface="IBM Plex Sans" pitchFamily="34" charset="-120"/>
              </a:rPr>
              <a:t>09 · OPENMP DIAGNOSTICS</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Diagnosing the lost efficiency</a:t>
            </a:r>
            <a:endParaRPr lang="en-US" sz="3000" dirty="0"/>
          </a:p>
        </p:txBody>
      </p:sp>
      <p:sp>
        <p:nvSpPr>
          <p:cNvPr id="4" name="Shape 2"/>
          <p:cNvSpPr/>
          <p:nvPr/>
        </p:nvSpPr>
        <p:spPr>
          <a:xfrm>
            <a:off x="812800" y="1699220"/>
            <a:ext cx="2536825" cy="1038771"/>
          </a:xfrm>
          <a:prstGeom prst="roundRect">
            <a:avLst>
              <a:gd name="adj" fmla="val 9781"/>
            </a:avLst>
          </a:prstGeom>
          <a:solidFill>
            <a:srgbClr val="14213D"/>
          </a:solidFill>
          <a:ln/>
        </p:spPr>
      </p:sp>
      <p:sp>
        <p:nvSpPr>
          <p:cNvPr id="5" name="Text 3"/>
          <p:cNvSpPr/>
          <p:nvPr/>
        </p:nvSpPr>
        <p:spPr>
          <a:xfrm>
            <a:off x="965200" y="1826220"/>
            <a:ext cx="2298986" cy="345430"/>
          </a:xfrm>
          <a:prstGeom prst="rect">
            <a:avLst/>
          </a:prstGeom>
          <a:noFill/>
          <a:ln/>
        </p:spPr>
        <p:txBody>
          <a:bodyPr wrap="square" lIns="0" tIns="0" rIns="0" bIns="0" rtlCol="0" anchor="t">
            <a:normAutofit/>
          </a:bodyPr>
          <a:lstStyle/>
          <a:p>
            <a:pPr algn="l" indent="0" marL="0">
              <a:lnSpc>
                <a:spcPts val="2520"/>
              </a:lnSpc>
              <a:buNone/>
            </a:pPr>
            <a:r>
              <a:rPr lang="en-US" sz="2400" b="1" dirty="0">
                <a:solidFill>
                  <a:srgbClr val="F6F4EE"/>
                </a:solidFill>
                <a:latin typeface="Source Serif 4" pitchFamily="18" charset="0"/>
                <a:ea typeface="Source Serif 4" pitchFamily="18" charset="-122"/>
                <a:cs typeface="Source Serif 4" pitchFamily="18" charset="-120"/>
              </a:rPr>
              <a:t>6,030/6,030</a:t>
            </a:r>
            <a:endParaRPr lang="en-US" sz="2400" dirty="0"/>
          </a:p>
        </p:txBody>
      </p:sp>
      <p:sp>
        <p:nvSpPr>
          <p:cNvPr id="6" name="Text 4"/>
          <p:cNvSpPr/>
          <p:nvPr/>
        </p:nvSpPr>
        <p:spPr>
          <a:xfrm>
            <a:off x="965200" y="2171650"/>
            <a:ext cx="229898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observations: 201 settings × 30 rounds</a:t>
            </a:r>
            <a:endParaRPr lang="en-US" sz="1200" dirty="0"/>
          </a:p>
        </p:txBody>
      </p:sp>
      <p:sp>
        <p:nvSpPr>
          <p:cNvPr id="7" name="Shape 5"/>
          <p:cNvSpPr/>
          <p:nvPr/>
        </p:nvSpPr>
        <p:spPr>
          <a:xfrm>
            <a:off x="3479800" y="1702395"/>
            <a:ext cx="2543175" cy="1032421"/>
          </a:xfrm>
          <a:prstGeom prst="roundRect">
            <a:avLst>
              <a:gd name="adj" fmla="val 9533"/>
            </a:avLst>
          </a:prstGeom>
          <a:solidFill>
            <a:srgbClr val="FDFCF9"/>
          </a:solidFill>
          <a:ln w="6350">
            <a:solidFill>
              <a:srgbClr val="D9D5C8"/>
            </a:solidFill>
            <a:prstDash val="solid"/>
          </a:ln>
        </p:spPr>
      </p:sp>
      <p:sp>
        <p:nvSpPr>
          <p:cNvPr id="8" name="Text 6"/>
          <p:cNvSpPr/>
          <p:nvPr/>
        </p:nvSpPr>
        <p:spPr>
          <a:xfrm>
            <a:off x="3635375" y="1832570"/>
            <a:ext cx="2298986" cy="345430"/>
          </a:xfrm>
          <a:prstGeom prst="rect">
            <a:avLst/>
          </a:prstGeom>
          <a:noFill/>
          <a:ln/>
        </p:spPr>
        <p:txBody>
          <a:bodyPr wrap="square" lIns="0" tIns="0" rIns="0" bIns="0" rtlCol="0" anchor="t">
            <a:normAutofit/>
          </a:bodyPr>
          <a:lstStyle/>
          <a:p>
            <a:pPr algn="l" indent="0" marL="0">
              <a:lnSpc>
                <a:spcPts val="2520"/>
              </a:lnSpc>
              <a:buNone/>
            </a:pPr>
            <a:r>
              <a:rPr lang="en-US" sz="2400" b="1" dirty="0">
                <a:solidFill>
                  <a:srgbClr val="14213D"/>
                </a:solidFill>
                <a:latin typeface="Source Serif 4" pitchFamily="18" charset="0"/>
                <a:ea typeface="Source Serif 4" pitchFamily="18" charset="-122"/>
                <a:cs typeface="Source Serif 4" pitchFamily="18" charset="-120"/>
              </a:rPr>
              <a:t>6.23%</a:t>
            </a:r>
            <a:endParaRPr lang="en-US" sz="2400" dirty="0"/>
          </a:p>
        </p:txBody>
      </p:sp>
      <p:sp>
        <p:nvSpPr>
          <p:cNvPr id="9" name="Text 7"/>
          <p:cNvSpPr/>
          <p:nvPr/>
        </p:nvSpPr>
        <p:spPr>
          <a:xfrm>
            <a:off x="3635375" y="2178000"/>
            <a:ext cx="22989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wall-idle proxy at 8 threads</a:t>
            </a:r>
            <a:endParaRPr lang="en-US" sz="1200" dirty="0"/>
          </a:p>
        </p:txBody>
      </p:sp>
      <p:sp>
        <p:nvSpPr>
          <p:cNvPr id="10" name="Shape 8"/>
          <p:cNvSpPr/>
          <p:nvPr/>
        </p:nvSpPr>
        <p:spPr>
          <a:xfrm>
            <a:off x="6156325" y="1702395"/>
            <a:ext cx="2543175" cy="1032421"/>
          </a:xfrm>
          <a:prstGeom prst="roundRect">
            <a:avLst>
              <a:gd name="adj" fmla="val 9533"/>
            </a:avLst>
          </a:prstGeom>
          <a:solidFill>
            <a:srgbClr val="FDFCF9"/>
          </a:solidFill>
          <a:ln w="6350">
            <a:solidFill>
              <a:srgbClr val="D9D5C8"/>
            </a:solidFill>
            <a:prstDash val="solid"/>
          </a:ln>
        </p:spPr>
      </p:sp>
      <p:sp>
        <p:nvSpPr>
          <p:cNvPr id="11" name="Text 9"/>
          <p:cNvSpPr/>
          <p:nvPr/>
        </p:nvSpPr>
        <p:spPr>
          <a:xfrm>
            <a:off x="6311900" y="1832570"/>
            <a:ext cx="2298986" cy="345430"/>
          </a:xfrm>
          <a:prstGeom prst="rect">
            <a:avLst/>
          </a:prstGeom>
          <a:noFill/>
          <a:ln/>
        </p:spPr>
        <p:txBody>
          <a:bodyPr wrap="square" lIns="0" tIns="0" rIns="0" bIns="0" rtlCol="0" anchor="t">
            <a:normAutofit/>
          </a:bodyPr>
          <a:lstStyle/>
          <a:p>
            <a:pPr algn="l" indent="0" marL="0">
              <a:lnSpc>
                <a:spcPts val="2520"/>
              </a:lnSpc>
              <a:buNone/>
            </a:pPr>
            <a:r>
              <a:rPr lang="en-US" sz="2400" b="1" dirty="0">
                <a:solidFill>
                  <a:srgbClr val="14213D"/>
                </a:solidFill>
                <a:latin typeface="Source Serif 4" pitchFamily="18" charset="0"/>
                <a:ea typeface="Source Serif 4" pitchFamily="18" charset="-122"/>
                <a:cs typeface="Source Serif 4" pitchFamily="18" charset="-120"/>
              </a:rPr>
              <a:t>14.13%</a:t>
            </a:r>
            <a:endParaRPr lang="en-US" sz="2400" dirty="0"/>
          </a:p>
        </p:txBody>
      </p:sp>
      <p:sp>
        <p:nvSpPr>
          <p:cNvPr id="12" name="Text 10"/>
          <p:cNvSpPr/>
          <p:nvPr/>
        </p:nvSpPr>
        <p:spPr>
          <a:xfrm>
            <a:off x="6311900" y="2178000"/>
            <a:ext cx="229898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Amdahl-equivalent serial fraction (a fit)</a:t>
            </a:r>
            <a:endParaRPr lang="en-US" sz="1200" dirty="0"/>
          </a:p>
        </p:txBody>
      </p:sp>
      <p:sp>
        <p:nvSpPr>
          <p:cNvPr id="13" name="Shape 11"/>
          <p:cNvSpPr/>
          <p:nvPr/>
        </p:nvSpPr>
        <p:spPr>
          <a:xfrm>
            <a:off x="8832850" y="1702395"/>
            <a:ext cx="2543175" cy="1032421"/>
          </a:xfrm>
          <a:prstGeom prst="roundRect">
            <a:avLst>
              <a:gd name="adj" fmla="val 9533"/>
            </a:avLst>
          </a:prstGeom>
          <a:solidFill>
            <a:srgbClr val="FDFCF9"/>
          </a:solidFill>
          <a:ln w="6350">
            <a:solidFill>
              <a:srgbClr val="D9D5C8"/>
            </a:solidFill>
            <a:prstDash val="solid"/>
          </a:ln>
        </p:spPr>
      </p:sp>
      <p:sp>
        <p:nvSpPr>
          <p:cNvPr id="14" name="Text 12"/>
          <p:cNvSpPr/>
          <p:nvPr/>
        </p:nvSpPr>
        <p:spPr>
          <a:xfrm>
            <a:off x="8988425" y="1832570"/>
            <a:ext cx="2298986" cy="345430"/>
          </a:xfrm>
          <a:prstGeom prst="rect">
            <a:avLst/>
          </a:prstGeom>
          <a:noFill/>
          <a:ln/>
        </p:spPr>
        <p:txBody>
          <a:bodyPr wrap="square" lIns="0" tIns="0" rIns="0" bIns="0" rtlCol="0" anchor="t">
            <a:normAutofit/>
          </a:bodyPr>
          <a:lstStyle/>
          <a:p>
            <a:pPr algn="l" indent="0" marL="0">
              <a:lnSpc>
                <a:spcPts val="2520"/>
              </a:lnSpc>
              <a:buNone/>
            </a:pPr>
            <a:r>
              <a:rPr lang="en-US" sz="2400" b="1" dirty="0">
                <a:solidFill>
                  <a:srgbClr val="14213D"/>
                </a:solidFill>
                <a:latin typeface="Source Serif 4" pitchFamily="18" charset="0"/>
                <a:ea typeface="Source Serif 4" pitchFamily="18" charset="-122"/>
                <a:cs typeface="Source Serif 4" pitchFamily="18" charset="-120"/>
              </a:rPr>
              <a:t>4.55×</a:t>
            </a:r>
            <a:endParaRPr lang="en-US" sz="2400" dirty="0"/>
          </a:p>
        </p:txBody>
      </p:sp>
      <p:sp>
        <p:nvSpPr>
          <p:cNvPr id="15" name="Text 13"/>
          <p:cNvSpPr/>
          <p:nvPr/>
        </p:nvSpPr>
        <p:spPr>
          <a:xfrm>
            <a:off x="8988425" y="2178000"/>
            <a:ext cx="229898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16 threads, CI [3.94, 5.02], 28.46% efficiency</a:t>
            </a:r>
            <a:endParaRPr lang="en-US" sz="1200" dirty="0"/>
          </a:p>
        </p:txBody>
      </p:sp>
      <p:sp>
        <p:nvSpPr>
          <p:cNvPr id="16" name="Shape 14"/>
          <p:cNvSpPr/>
          <p:nvPr/>
        </p:nvSpPr>
        <p:spPr>
          <a:xfrm>
            <a:off x="812800" y="2915791"/>
            <a:ext cx="10566400" cy="2322413"/>
          </a:xfrm>
          <a:prstGeom prst="rect">
            <a:avLst/>
          </a:prstGeom>
          <a:solidFill>
            <a:srgbClr val="FDFCF9"/>
          </a:solidFill>
          <a:ln/>
        </p:spPr>
      </p:sp>
      <p:sp>
        <p:nvSpPr>
          <p:cNvPr id="17" name="Shape 15"/>
          <p:cNvSpPr/>
          <p:nvPr/>
        </p:nvSpPr>
        <p:spPr>
          <a:xfrm>
            <a:off x="11376025" y="2915791"/>
            <a:ext cx="0" cy="2322413"/>
          </a:xfrm>
          <a:prstGeom prst="line">
            <a:avLst/>
          </a:prstGeom>
          <a:noFill/>
          <a:ln w="6350">
            <a:solidFill>
              <a:srgbClr val="D9D5C8"/>
            </a:solidFill>
            <a:prstDash val="solid"/>
          </a:ln>
        </p:spPr>
      </p:sp>
      <p:sp>
        <p:nvSpPr>
          <p:cNvPr id="18" name="Shape 16"/>
          <p:cNvSpPr/>
          <p:nvPr/>
        </p:nvSpPr>
        <p:spPr>
          <a:xfrm>
            <a:off x="812800" y="5235029"/>
            <a:ext cx="10566400" cy="0"/>
          </a:xfrm>
          <a:prstGeom prst="line">
            <a:avLst/>
          </a:prstGeom>
          <a:noFill/>
          <a:ln w="6350">
            <a:solidFill>
              <a:srgbClr val="D9D5C8"/>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25500" y="2928491"/>
          <a:ext cx="10547350" cy="2303363"/>
        </p:xfrm>
        <a:graphic>
          <a:graphicData uri="http://schemas.openxmlformats.org/drawingml/2006/table">
            <a:tbl>
              <a:tblPr/>
              <a:tblGrid>
                <a:gridCol w="2320417"/>
                <a:gridCol w="4218940"/>
                <a:gridCol w="4007993"/>
              </a:tblGrid>
              <a:tr h="332680">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Hypothesis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Intervention or measurement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Outcome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tr>
              <a:tr h="54600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Load balance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Schedule, chunk and case-ordering interventions; per-worker wall time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Sorting gain unestablished: 1.0053 [0.959, 1.200] at 16 threads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Memory allocator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MALLOC_ARENA_MAX=1 at 8 threads, same setting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Much slower: median 2.989 s vs 0.251 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54600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Thread placement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Places and binding levels at dynamic, chunk 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One exploratory gain: cores/spread at 4 threads, 1.138 [1.070, 1.264]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54600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Hardware causes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P/E cores, SMT, cache bandwidth, frequency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Unresolved: WSL hides topology; no counters or frequency series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bl>
          </a:graphicData>
        </a:graphic>
      </p:graphicFrame>
      <p:sp>
        <p:nvSpPr>
          <p:cNvPr id="20" name="Text 17"/>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Source: WP2 OpenMP analysis · unadjusted exploratory intervals · commit 80a9625.</a:t>
            </a:r>
            <a:endParaRPr lang="en-US" sz="1200" dirty="0"/>
          </a:p>
        </p:txBody>
      </p:sp>
      <p:sp>
        <p:nvSpPr>
          <p:cNvPr id="21" name="Text 1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11 / 21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81A"/>
                </a:solidFill>
                <a:latin typeface="IBM Plex Sans" pitchFamily="34" charset="0"/>
                <a:ea typeface="IBM Plex Sans" pitchFamily="34" charset="-122"/>
                <a:cs typeface="IBM Plex Sans" pitchFamily="34" charset="-120"/>
              </a:rPr>
              <a:t>10 · SKILLS</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What this project demonstrates</a:t>
            </a:r>
            <a:endParaRPr lang="en-US" sz="3000" dirty="0"/>
          </a:p>
        </p:txBody>
      </p:sp>
      <p:sp>
        <p:nvSpPr>
          <p:cNvPr id="4" name="Shape 2"/>
          <p:cNvSpPr/>
          <p:nvPr/>
        </p:nvSpPr>
        <p:spPr>
          <a:xfrm>
            <a:off x="815975" y="1753195"/>
            <a:ext cx="3414167" cy="1758801"/>
          </a:xfrm>
          <a:prstGeom prst="roundRect">
            <a:avLst>
              <a:gd name="adj" fmla="val 5596"/>
            </a:avLst>
          </a:prstGeom>
          <a:solidFill>
            <a:srgbClr val="FDFCF9"/>
          </a:solidFill>
          <a:ln w="6350">
            <a:solidFill>
              <a:srgbClr val="D9D5C8"/>
            </a:solidFill>
            <a:prstDash val="solid"/>
          </a:ln>
        </p:spPr>
      </p:sp>
      <p:sp>
        <p:nvSpPr>
          <p:cNvPr id="5" name="Text 3"/>
          <p:cNvSpPr/>
          <p:nvPr/>
        </p:nvSpPr>
        <p:spPr>
          <a:xfrm>
            <a:off x="1022350" y="1959570"/>
            <a:ext cx="309145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Optimization modeling</a:t>
            </a:r>
            <a:endParaRPr lang="en-US" sz="1800" dirty="0"/>
          </a:p>
        </p:txBody>
      </p:sp>
      <p:sp>
        <p:nvSpPr>
          <p:cNvPr id="6" name="Text 4"/>
          <p:cNvSpPr/>
          <p:nvPr/>
        </p:nvSpPr>
        <p:spPr>
          <a:xfrm>
            <a:off x="1022350" y="2310061"/>
            <a:ext cx="3091459"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Pyomo MILP and LP models solved with HiGHS or Gurobi; GH and AGH heuristics; explicit units.</a:t>
            </a:r>
            <a:endParaRPr lang="en-US" sz="1400" dirty="0"/>
          </a:p>
        </p:txBody>
      </p:sp>
      <p:sp>
        <p:nvSpPr>
          <p:cNvPr id="7" name="Shape 5"/>
          <p:cNvSpPr/>
          <p:nvPr/>
        </p:nvSpPr>
        <p:spPr>
          <a:xfrm>
            <a:off x="4388892" y="1753195"/>
            <a:ext cx="3414167" cy="1758801"/>
          </a:xfrm>
          <a:prstGeom prst="roundRect">
            <a:avLst>
              <a:gd name="adj" fmla="val 5596"/>
            </a:avLst>
          </a:prstGeom>
          <a:solidFill>
            <a:srgbClr val="FDFCF9"/>
          </a:solidFill>
          <a:ln w="6350">
            <a:solidFill>
              <a:srgbClr val="D9D5C8"/>
            </a:solidFill>
            <a:prstDash val="solid"/>
          </a:ln>
        </p:spPr>
      </p:sp>
      <p:sp>
        <p:nvSpPr>
          <p:cNvPr id="8" name="Text 6"/>
          <p:cNvSpPr/>
          <p:nvPr/>
        </p:nvSpPr>
        <p:spPr>
          <a:xfrm>
            <a:off x="4595267" y="1959570"/>
            <a:ext cx="309145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C++20 engineering</a:t>
            </a:r>
            <a:endParaRPr lang="en-US" sz="1800" dirty="0"/>
          </a:p>
        </p:txBody>
      </p:sp>
      <p:sp>
        <p:nvSpPr>
          <p:cNvPr id="9" name="Text 7"/>
          <p:cNvSpPr/>
          <p:nvPr/>
        </p:nvSpPr>
        <p:spPr>
          <a:xfrm>
            <a:off x="4595267" y="2310061"/>
            <a:ext cx="3091459"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Serial GH/AGH port with deterministic ordering and no fast-math; release and ASan/UBSan checks.</a:t>
            </a:r>
            <a:endParaRPr lang="en-US" sz="1400" dirty="0"/>
          </a:p>
        </p:txBody>
      </p:sp>
      <p:sp>
        <p:nvSpPr>
          <p:cNvPr id="10" name="Shape 8"/>
          <p:cNvSpPr/>
          <p:nvPr/>
        </p:nvSpPr>
        <p:spPr>
          <a:xfrm>
            <a:off x="7961809" y="1753195"/>
            <a:ext cx="3414216" cy="1758801"/>
          </a:xfrm>
          <a:prstGeom prst="roundRect">
            <a:avLst>
              <a:gd name="adj" fmla="val 5596"/>
            </a:avLst>
          </a:prstGeom>
          <a:solidFill>
            <a:srgbClr val="FDFCF9"/>
          </a:solidFill>
          <a:ln w="6350">
            <a:solidFill>
              <a:srgbClr val="D9D5C8"/>
            </a:solidFill>
            <a:prstDash val="solid"/>
          </a:ln>
        </p:spPr>
      </p:sp>
      <p:sp>
        <p:nvSpPr>
          <p:cNvPr id="11" name="Text 9"/>
          <p:cNvSpPr/>
          <p:nvPr/>
        </p:nvSpPr>
        <p:spPr>
          <a:xfrm>
            <a:off x="8168184" y="1959570"/>
            <a:ext cx="309151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Verification</a:t>
            </a:r>
            <a:endParaRPr lang="en-US" sz="1800" dirty="0"/>
          </a:p>
        </p:txBody>
      </p:sp>
      <p:sp>
        <p:nvSpPr>
          <p:cNvPr id="12" name="Text 10"/>
          <p:cNvSpPr/>
          <p:nvPr/>
        </p:nvSpPr>
        <p:spPr>
          <a:xfrm>
            <a:off x="8168184" y="2310061"/>
            <a:ext cx="3091510"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Independent validator; 63/63 cross-language checks with 3,023 values bitwise identical.</a:t>
            </a:r>
            <a:endParaRPr lang="en-US" sz="1400" dirty="0"/>
          </a:p>
        </p:txBody>
      </p:sp>
      <p:sp>
        <p:nvSpPr>
          <p:cNvPr id="13" name="Shape 11"/>
          <p:cNvSpPr/>
          <p:nvPr/>
        </p:nvSpPr>
        <p:spPr>
          <a:xfrm>
            <a:off x="815975" y="3670746"/>
            <a:ext cx="3414167" cy="1509911"/>
          </a:xfrm>
          <a:prstGeom prst="roundRect">
            <a:avLst>
              <a:gd name="adj" fmla="val 6519"/>
            </a:avLst>
          </a:prstGeom>
          <a:solidFill>
            <a:srgbClr val="FDFCF9"/>
          </a:solidFill>
          <a:ln w="6350">
            <a:solidFill>
              <a:srgbClr val="D9D5C8"/>
            </a:solidFill>
            <a:prstDash val="solid"/>
          </a:ln>
        </p:spPr>
      </p:sp>
      <p:sp>
        <p:nvSpPr>
          <p:cNvPr id="14" name="Text 12"/>
          <p:cNvSpPr/>
          <p:nvPr/>
        </p:nvSpPr>
        <p:spPr>
          <a:xfrm>
            <a:off x="1022350" y="3877121"/>
            <a:ext cx="309145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Performance measurement</a:t>
            </a:r>
            <a:endParaRPr lang="en-US" sz="1800" dirty="0"/>
          </a:p>
        </p:txBody>
      </p:sp>
      <p:sp>
        <p:nvSpPr>
          <p:cNvPr id="15" name="Text 13"/>
          <p:cNvSpPr/>
          <p:nvPr/>
        </p:nvSpPr>
        <p:spPr>
          <a:xfrm>
            <a:off x="1022350" y="4227612"/>
            <a:ext cx="3091459"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Separate timers, paired rounds and bootstrap intervals; OpenMP across independent cases.</a:t>
            </a:r>
            <a:endParaRPr lang="en-US" sz="1400" dirty="0"/>
          </a:p>
        </p:txBody>
      </p:sp>
      <p:sp>
        <p:nvSpPr>
          <p:cNvPr id="16" name="Shape 14"/>
          <p:cNvSpPr/>
          <p:nvPr/>
        </p:nvSpPr>
        <p:spPr>
          <a:xfrm>
            <a:off x="4388892" y="3670746"/>
            <a:ext cx="3414167" cy="1509911"/>
          </a:xfrm>
          <a:prstGeom prst="roundRect">
            <a:avLst>
              <a:gd name="adj" fmla="val 6519"/>
            </a:avLst>
          </a:prstGeom>
          <a:solidFill>
            <a:srgbClr val="FDFCF9"/>
          </a:solidFill>
          <a:ln w="6350">
            <a:solidFill>
              <a:srgbClr val="D9D5C8"/>
            </a:solidFill>
            <a:prstDash val="solid"/>
          </a:ln>
        </p:spPr>
      </p:sp>
      <p:sp>
        <p:nvSpPr>
          <p:cNvPr id="17" name="Text 15"/>
          <p:cNvSpPr/>
          <p:nvPr/>
        </p:nvSpPr>
        <p:spPr>
          <a:xfrm>
            <a:off x="4595267" y="3877121"/>
            <a:ext cx="309145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Reproducibility</a:t>
            </a:r>
            <a:endParaRPr lang="en-US" sz="1800" dirty="0"/>
          </a:p>
        </p:txBody>
      </p:sp>
      <p:sp>
        <p:nvSpPr>
          <p:cNvPr id="18" name="Text 16"/>
          <p:cNvSpPr/>
          <p:nvPr/>
        </p:nvSpPr>
        <p:spPr>
          <a:xfrm>
            <a:off x="4595267" y="4227612"/>
            <a:ext cx="3091459"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Seeded inputs, replay commands and a SHA-256 manifest of 3,572 published files.</a:t>
            </a:r>
            <a:endParaRPr lang="en-US" sz="1400" dirty="0"/>
          </a:p>
        </p:txBody>
      </p:sp>
      <p:sp>
        <p:nvSpPr>
          <p:cNvPr id="19" name="Shape 17"/>
          <p:cNvSpPr/>
          <p:nvPr/>
        </p:nvSpPr>
        <p:spPr>
          <a:xfrm>
            <a:off x="7961809" y="3670746"/>
            <a:ext cx="3414216" cy="1509911"/>
          </a:xfrm>
          <a:prstGeom prst="roundRect">
            <a:avLst>
              <a:gd name="adj" fmla="val 6519"/>
            </a:avLst>
          </a:prstGeom>
          <a:solidFill>
            <a:srgbClr val="FDFCF9"/>
          </a:solidFill>
          <a:ln w="6350">
            <a:solidFill>
              <a:srgbClr val="D9D5C8"/>
            </a:solidFill>
            <a:prstDash val="solid"/>
          </a:ln>
        </p:spPr>
      </p:sp>
      <p:sp>
        <p:nvSpPr>
          <p:cNvPr id="20" name="Text 18"/>
          <p:cNvSpPr/>
          <p:nvPr/>
        </p:nvSpPr>
        <p:spPr>
          <a:xfrm>
            <a:off x="8168184" y="3877121"/>
            <a:ext cx="309151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Honest reporting</a:t>
            </a:r>
            <a:endParaRPr lang="en-US" sz="1800" dirty="0"/>
          </a:p>
        </p:txBody>
      </p:sp>
      <p:sp>
        <p:nvSpPr>
          <p:cNvPr id="21" name="Text 19"/>
          <p:cNvSpPr/>
          <p:nvPr/>
        </p:nvSpPr>
        <p:spPr>
          <a:xfrm>
            <a:off x="8168184" y="4227612"/>
            <a:ext cx="3091510"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Negative and open results kept: allocator slowdown, unestablished sorting gain, rejected incumbents.</a:t>
            </a:r>
            <a:endParaRPr lang="en-US" sz="1400" dirty="0"/>
          </a:p>
        </p:txBody>
      </p:sp>
      <p:sp>
        <p:nvSpPr>
          <p:cNvPr id="22" name="Text 20"/>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Algorithms: Cheng and Nguyen, arXiv:2604.07472 · this project: implementation, verification, measurement.</a:t>
            </a:r>
            <a:endParaRPr lang="en-US" sz="1200" dirty="0"/>
          </a:p>
        </p:txBody>
      </p:sp>
      <p:sp>
        <p:nvSpPr>
          <p:cNvPr id="23" name="Text 2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12 / 21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81A"/>
                </a:solidFill>
                <a:latin typeface="IBM Plex Sans" pitchFamily="34" charset="0"/>
                <a:ea typeface="IBM Plex Sans" pitchFamily="34" charset="-122"/>
                <a:cs typeface="IBM Plex Sans" pitchFamily="34" charset="-120"/>
              </a:rPr>
              <a:t>11 · CONTRIBUTION AND LIMITS</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What is done, what is measured, what is open</a:t>
            </a:r>
            <a:endParaRPr lang="en-US" sz="3000" dirty="0"/>
          </a:p>
        </p:txBody>
      </p:sp>
      <p:sp>
        <p:nvSpPr>
          <p:cNvPr id="4" name="Shape 2"/>
          <p:cNvSpPr/>
          <p:nvPr/>
        </p:nvSpPr>
        <p:spPr>
          <a:xfrm>
            <a:off x="815975" y="1727795"/>
            <a:ext cx="3414167" cy="2393702"/>
          </a:xfrm>
          <a:prstGeom prst="roundRect">
            <a:avLst>
              <a:gd name="adj" fmla="val 4112"/>
            </a:avLst>
          </a:prstGeom>
          <a:solidFill>
            <a:srgbClr val="FDFCF9"/>
          </a:solidFill>
          <a:ln w="6350">
            <a:solidFill>
              <a:srgbClr val="D9D5C8"/>
            </a:solidFill>
            <a:prstDash val="solid"/>
          </a:ln>
        </p:spPr>
      </p:sp>
      <p:sp>
        <p:nvSpPr>
          <p:cNvPr id="5" name="Text 3"/>
          <p:cNvSpPr/>
          <p:nvPr/>
        </p:nvSpPr>
        <p:spPr>
          <a:xfrm>
            <a:off x="1022350" y="1908770"/>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1A6"/>
                </a:solidFill>
                <a:latin typeface="IBM Plex Sans" pitchFamily="34" charset="0"/>
                <a:ea typeface="IBM Plex Sans" pitchFamily="34" charset="-122"/>
                <a:cs typeface="IBM Plex Sans" pitchFamily="34" charset="-120"/>
              </a:rPr>
              <a:t>IMPLEMENTED</a:t>
            </a:r>
            <a:endParaRPr lang="en-US" sz="1200" dirty="0"/>
          </a:p>
        </p:txBody>
      </p:sp>
      <p:sp>
        <p:nvSpPr>
          <p:cNvPr id="6" name="Text 4"/>
          <p:cNvSpPr/>
          <p:nvPr/>
        </p:nvSpPr>
        <p:spPr>
          <a:xfrm>
            <a:off x="1100582" y="2198291"/>
            <a:ext cx="3005607" cy="1767632"/>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14213D"/>
                </a:solidFill>
                <a:latin typeface="IBM Plex Sans" pitchFamily="34" charset="0"/>
                <a:ea typeface="IBM Plex Sans" pitchFamily="34" charset="-122"/>
                <a:cs typeface="IBM Plex Sans" pitchFamily="34" charset="-120"/>
              </a:rPr>
              <a:t>Python/Pyomo reference and independent validator</a:t>
            </a:r>
            <a:endParaRPr lang="en-US" sz="1400" dirty="0"/>
          </a:p>
          <a:p>
            <a:pPr algn="l" marL="175768" indent="-175768">
              <a:lnSpc>
                <a:spcPts val="1960"/>
              </a:lnSpc>
              <a:buSzPct val="100000"/>
              <a:buChar char="•"/>
            </a:pPr>
            <a:r>
              <a:rPr lang="en-US" sz="1400" dirty="0">
                <a:solidFill>
                  <a:srgbClr val="14213D"/>
                </a:solidFill>
                <a:latin typeface="IBM Plex Sans" pitchFamily="34" charset="0"/>
                <a:ea typeface="IBM Plex Sans" pitchFamily="34" charset="-122"/>
                <a:cs typeface="IBM Plex Sans" pitchFamily="34" charset="-120"/>
              </a:rPr>
              <a:t>Serial C++20 GH and AGH</a:t>
            </a:r>
            <a:endParaRPr lang="en-US" sz="1400" dirty="0"/>
          </a:p>
          <a:p>
            <a:pPr algn="l" marL="175768" indent="-175768">
              <a:lnSpc>
                <a:spcPts val="1960"/>
              </a:lnSpc>
              <a:buSzPct val="100000"/>
              <a:buChar char="•"/>
            </a:pPr>
            <a:r>
              <a:rPr lang="en-US" sz="1400" dirty="0">
                <a:solidFill>
                  <a:srgbClr val="14213D"/>
                </a:solidFill>
                <a:latin typeface="IBM Plex Sans" pitchFamily="34" charset="0"/>
                <a:ea typeface="IBM Plex Sans" pitchFamily="34" charset="-122"/>
                <a:cs typeface="IBM Plex Sans" pitchFamily="34" charset="-120"/>
              </a:rPr>
              <a:t>OpenMP across independent cases</a:t>
            </a:r>
            <a:endParaRPr lang="en-US" sz="1400" dirty="0"/>
          </a:p>
          <a:p>
            <a:pPr algn="l" marL="175768" indent="-175768">
              <a:lnSpc>
                <a:spcPts val="1960"/>
              </a:lnSpc>
              <a:buSzPct val="100000"/>
              <a:buChar char="•"/>
            </a:pPr>
            <a:r>
              <a:rPr lang="en-US" sz="1400" dirty="0">
                <a:solidFill>
                  <a:srgbClr val="14213D"/>
                </a:solidFill>
                <a:latin typeface="IBM Plex Sans" pitchFamily="34" charset="0"/>
                <a:ea typeface="IBM Plex Sans" pitchFamily="34" charset="-122"/>
                <a:cs typeface="IBM Plex Sans" pitchFamily="34" charset="-120"/>
              </a:rPr>
              <a:t>Opt-in relative Stage-2 objective tolerance</a:t>
            </a:r>
            <a:endParaRPr lang="en-US" sz="1400" dirty="0"/>
          </a:p>
        </p:txBody>
      </p:sp>
      <p:sp>
        <p:nvSpPr>
          <p:cNvPr id="7" name="Shape 5"/>
          <p:cNvSpPr/>
          <p:nvPr/>
        </p:nvSpPr>
        <p:spPr>
          <a:xfrm>
            <a:off x="4388892" y="1727795"/>
            <a:ext cx="3414167" cy="2393702"/>
          </a:xfrm>
          <a:prstGeom prst="roundRect">
            <a:avLst>
              <a:gd name="adj" fmla="val 4112"/>
            </a:avLst>
          </a:prstGeom>
          <a:solidFill>
            <a:srgbClr val="FDFCF9"/>
          </a:solidFill>
          <a:ln w="6350">
            <a:solidFill>
              <a:srgbClr val="D9D5C8"/>
            </a:solidFill>
            <a:prstDash val="solid"/>
          </a:ln>
        </p:spPr>
      </p:sp>
      <p:sp>
        <p:nvSpPr>
          <p:cNvPr id="8" name="Text 6"/>
          <p:cNvSpPr/>
          <p:nvPr/>
        </p:nvSpPr>
        <p:spPr>
          <a:xfrm>
            <a:off x="4595267" y="1908770"/>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1A6"/>
                </a:solidFill>
                <a:latin typeface="IBM Plex Sans" pitchFamily="34" charset="0"/>
                <a:ea typeface="IBM Plex Sans" pitchFamily="34" charset="-122"/>
                <a:cs typeface="IBM Plex Sans" pitchFamily="34" charset="-120"/>
              </a:rPr>
              <a:t>MEASURED</a:t>
            </a:r>
            <a:endParaRPr lang="en-US" sz="1200" dirty="0"/>
          </a:p>
        </p:txBody>
      </p:sp>
      <p:sp>
        <p:nvSpPr>
          <p:cNvPr id="9" name="Text 7"/>
          <p:cNvSpPr/>
          <p:nvPr/>
        </p:nvSpPr>
        <p:spPr>
          <a:xfrm>
            <a:off x="4673499" y="2198291"/>
            <a:ext cx="3005607" cy="1767632"/>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14213D"/>
                </a:solidFill>
                <a:latin typeface="IBM Plex Sans" pitchFamily="34" charset="0"/>
                <a:ea typeface="IBM Plex Sans" pitchFamily="34" charset="-122"/>
                <a:cs typeface="IBM Plex Sans" pitchFamily="34" charset="-120"/>
              </a:rPr>
              <a:t>Local CPU runtime on synthetic inputs</a:t>
            </a:r>
            <a:endParaRPr lang="en-US" sz="1400" dirty="0"/>
          </a:p>
          <a:p>
            <a:pPr algn="l" marL="175768" indent="-175768">
              <a:lnSpc>
                <a:spcPts val="1960"/>
              </a:lnSpc>
              <a:buSzPct val="100000"/>
              <a:buChar char="•"/>
            </a:pPr>
            <a:r>
              <a:rPr lang="en-US" sz="1400" dirty="0">
                <a:solidFill>
                  <a:srgbClr val="14213D"/>
                </a:solidFill>
                <a:latin typeface="IBM Plex Sans" pitchFamily="34" charset="0"/>
                <a:ea typeface="IBM Plex Sans" pitchFamily="34" charset="-122"/>
                <a:cs typeface="IBM Plex Sans" pitchFamily="34" charset="-120"/>
              </a:rPr>
              <a:t>Separate core and invocation timers</a:t>
            </a:r>
            <a:endParaRPr lang="en-US" sz="1400" dirty="0"/>
          </a:p>
          <a:p>
            <a:pPr algn="l" marL="175768" indent="-175768">
              <a:lnSpc>
                <a:spcPts val="1960"/>
              </a:lnSpc>
              <a:buSzPct val="100000"/>
              <a:buChar char="•"/>
            </a:pPr>
            <a:r>
              <a:rPr lang="en-US" sz="1400" dirty="0">
                <a:solidFill>
                  <a:srgbClr val="14213D"/>
                </a:solidFill>
                <a:latin typeface="IBM Plex Sans" pitchFamily="34" charset="0"/>
                <a:ea typeface="IBM Plex Sans" pitchFamily="34" charset="-122"/>
                <a:cs typeface="IBM Plex Sans" pitchFamily="34" charset="-120"/>
              </a:rPr>
              <a:t>Paired rounds and bootstrap intervals</a:t>
            </a:r>
            <a:endParaRPr lang="en-US" sz="1400" dirty="0"/>
          </a:p>
          <a:p>
            <a:pPr algn="l" marL="175768" indent="-175768">
              <a:lnSpc>
                <a:spcPts val="1960"/>
              </a:lnSpc>
              <a:buSzPct val="100000"/>
              <a:buChar char="•"/>
            </a:pPr>
            <a:r>
              <a:rPr lang="en-US" sz="1400" dirty="0">
                <a:solidFill>
                  <a:srgbClr val="14213D"/>
                </a:solidFill>
                <a:latin typeface="IBM Plex Sans" pitchFamily="34" charset="0"/>
                <a:ea typeface="IBM Plex Sans" pitchFamily="34" charset="-122"/>
                <a:cs typeface="IBM Plex Sans" pitchFamily="34" charset="-120"/>
              </a:rPr>
              <a:t>Stated verification coverage</a:t>
            </a:r>
            <a:endParaRPr lang="en-US" sz="1400" dirty="0"/>
          </a:p>
        </p:txBody>
      </p:sp>
      <p:sp>
        <p:nvSpPr>
          <p:cNvPr id="10" name="Shape 8"/>
          <p:cNvSpPr/>
          <p:nvPr/>
        </p:nvSpPr>
        <p:spPr>
          <a:xfrm>
            <a:off x="7961809" y="1727795"/>
            <a:ext cx="3414216" cy="2393702"/>
          </a:xfrm>
          <a:prstGeom prst="roundRect">
            <a:avLst>
              <a:gd name="adj" fmla="val 4112"/>
            </a:avLst>
          </a:prstGeom>
          <a:solidFill>
            <a:srgbClr val="FDFCF9"/>
          </a:solidFill>
          <a:ln w="6350">
            <a:solidFill>
              <a:srgbClr val="D9D5C8"/>
            </a:solidFill>
            <a:prstDash val="solid"/>
          </a:ln>
        </p:spPr>
      </p:sp>
      <p:sp>
        <p:nvSpPr>
          <p:cNvPr id="11" name="Text 9"/>
          <p:cNvSpPr/>
          <p:nvPr/>
        </p:nvSpPr>
        <p:spPr>
          <a:xfrm>
            <a:off x="8168184" y="1908770"/>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F3512"/>
                </a:solidFill>
                <a:latin typeface="IBM Plex Sans" pitchFamily="34" charset="0"/>
                <a:ea typeface="IBM Plex Sans" pitchFamily="34" charset="-122"/>
                <a:cs typeface="IBM Plex Sans" pitchFamily="34" charset="-120"/>
              </a:rPr>
              <a:t>STILL OPEN</a:t>
            </a:r>
            <a:endParaRPr lang="en-US" sz="1200" dirty="0"/>
          </a:p>
        </p:txBody>
      </p:sp>
      <p:sp>
        <p:nvSpPr>
          <p:cNvPr id="12" name="Text 10"/>
          <p:cNvSpPr/>
          <p:nvPr/>
        </p:nvSpPr>
        <p:spPr>
          <a:xfrm>
            <a:off x="8246416" y="2198291"/>
            <a:ext cx="3005658" cy="1518741"/>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14213D"/>
                </a:solidFill>
                <a:latin typeface="IBM Plex Sans" pitchFamily="34" charset="0"/>
                <a:ea typeface="IBM Plex Sans" pitchFamily="34" charset="-122"/>
                <a:cs typeface="IBM Plex Sans" pitchFamily="34" charset="-120"/>
              </a:rPr>
              <a:t>Author-data calibration</a:t>
            </a:r>
            <a:endParaRPr lang="en-US" sz="1400" dirty="0"/>
          </a:p>
          <a:p>
            <a:pPr algn="l" marL="175768" indent="-175768">
              <a:lnSpc>
                <a:spcPts val="1960"/>
              </a:lnSpc>
              <a:buSzPct val="100000"/>
              <a:buChar char="•"/>
            </a:pPr>
            <a:r>
              <a:rPr lang="en-US" sz="1400" dirty="0">
                <a:solidFill>
                  <a:srgbClr val="14213D"/>
                </a:solidFill>
                <a:latin typeface="IBM Plex Sans" pitchFamily="34" charset="0"/>
                <a:ea typeface="IBM Plex Sans" pitchFamily="34" charset="-122"/>
                <a:cs typeface="IBM Plex Sans" pitchFamily="34" charset="-120"/>
              </a:rPr>
              <a:t>Native exact and Stage-2 solvers</a:t>
            </a:r>
            <a:endParaRPr lang="en-US" sz="1400" dirty="0"/>
          </a:p>
          <a:p>
            <a:pPr algn="l" marL="175768" indent="-175768">
              <a:lnSpc>
                <a:spcPts val="1960"/>
              </a:lnSpc>
              <a:buSzPct val="100000"/>
              <a:buChar char="•"/>
            </a:pPr>
            <a:r>
              <a:rPr lang="en-US" sz="1400" dirty="0">
                <a:solidFill>
                  <a:srgbClr val="14213D"/>
                </a:solidFill>
                <a:latin typeface="IBM Plex Sans" pitchFamily="34" charset="0"/>
                <a:ea typeface="IBM Plex Sans" pitchFamily="34" charset="-122"/>
                <a:cs typeface="IBM Plex Sans" pitchFamily="34" charset="-120"/>
              </a:rPr>
              <a:t>Memory profiling</a:t>
            </a:r>
            <a:endParaRPr lang="en-US" sz="1400" dirty="0"/>
          </a:p>
          <a:p>
            <a:pPr algn="l" marL="175768" indent="-175768">
              <a:lnSpc>
                <a:spcPts val="1960"/>
              </a:lnSpc>
              <a:buSzPct val="100000"/>
              <a:buChar char="•"/>
            </a:pPr>
            <a:r>
              <a:rPr lang="en-US" sz="1400" dirty="0">
                <a:solidFill>
                  <a:srgbClr val="14213D"/>
                </a:solidFill>
                <a:latin typeface="IBM Plex Sans" pitchFamily="34" charset="0"/>
                <a:ea typeface="IBM Plex Sans" pitchFamily="34" charset="-122"/>
                <a:cs typeface="IBM Plex Sans" pitchFamily="34" charset="-120"/>
              </a:rPr>
              <a:t>A validated MPI implementation</a:t>
            </a:r>
            <a:endParaRPr lang="en-US" sz="1400" dirty="0"/>
          </a:p>
          <a:p>
            <a:pPr algn="l" marL="175768" indent="-175768">
              <a:lnSpc>
                <a:spcPts val="1960"/>
              </a:lnSpc>
              <a:buSzPct val="100000"/>
              <a:buChar char="•"/>
            </a:pPr>
            <a:r>
              <a:rPr lang="en-US" sz="1400" dirty="0">
                <a:solidFill>
                  <a:srgbClr val="14213D"/>
                </a:solidFill>
                <a:latin typeface="IBM Plex Sans" pitchFamily="34" charset="0"/>
                <a:ea typeface="IBM Plex Sans" pitchFamily="34" charset="-122"/>
                <a:cs typeface="IBM Plex Sans" pitchFamily="34" charset="-120"/>
              </a:rPr>
              <a:t>Physical causes of OpenMP efficiency loss</a:t>
            </a:r>
            <a:endParaRPr lang="en-US" sz="1400" dirty="0"/>
          </a:p>
        </p:txBody>
      </p:sp>
      <p:sp>
        <p:nvSpPr>
          <p:cNvPr id="13" name="Shape 11"/>
          <p:cNvSpPr/>
          <p:nvPr/>
        </p:nvSpPr>
        <p:spPr>
          <a:xfrm>
            <a:off x="812800" y="4327872"/>
            <a:ext cx="4406900" cy="1081980"/>
          </a:xfrm>
          <a:prstGeom prst="roundRect">
            <a:avLst>
              <a:gd name="adj" fmla="val 9390"/>
            </a:avLst>
          </a:prstGeom>
          <a:solidFill>
            <a:srgbClr val="E3ECF7"/>
          </a:solidFill>
          <a:ln/>
        </p:spPr>
      </p:sp>
      <p:sp>
        <p:nvSpPr>
          <p:cNvPr id="14" name="Text 12"/>
          <p:cNvSpPr/>
          <p:nvPr/>
        </p:nvSpPr>
        <p:spPr>
          <a:xfrm>
            <a:off x="1016000" y="4480272"/>
            <a:ext cx="412051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1A6"/>
                </a:solidFill>
                <a:latin typeface="IBM Plex Sans" pitchFamily="34" charset="0"/>
                <a:ea typeface="IBM Plex Sans" pitchFamily="34" charset="-122"/>
                <a:cs typeface="IBM Plex Sans" pitchFamily="34" charset="-120"/>
              </a:rPr>
              <a:t>NOT CLAIMED</a:t>
            </a:r>
            <a:endParaRPr lang="en-US" sz="1200" dirty="0"/>
          </a:p>
        </p:txBody>
      </p:sp>
      <p:sp>
        <p:nvSpPr>
          <p:cNvPr id="15" name="Text 13"/>
          <p:cNvSpPr/>
          <p:nvPr/>
        </p:nvSpPr>
        <p:spPr>
          <a:xfrm>
            <a:off x="1016000" y="4744393"/>
            <a:ext cx="412051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GPU-serving speed, real cloud savings, heuristic optimality or replication of the paper's tables.</a:t>
            </a:r>
            <a:endParaRPr lang="en-US" sz="1400" dirty="0"/>
          </a:p>
        </p:txBody>
      </p:sp>
      <p:sp>
        <p:nvSpPr>
          <p:cNvPr id="16" name="Shape 14"/>
          <p:cNvSpPr/>
          <p:nvPr/>
        </p:nvSpPr>
        <p:spPr>
          <a:xfrm>
            <a:off x="5372100" y="4327872"/>
            <a:ext cx="6007100" cy="1081980"/>
          </a:xfrm>
          <a:prstGeom prst="roundRect">
            <a:avLst>
              <a:gd name="adj" fmla="val 9390"/>
            </a:avLst>
          </a:prstGeom>
          <a:solidFill>
            <a:srgbClr val="14213D"/>
          </a:solidFill>
          <a:ln/>
        </p:spPr>
      </p:sp>
      <p:sp>
        <p:nvSpPr>
          <p:cNvPr id="17" name="Text 15"/>
          <p:cNvSpPr/>
          <p:nvPr/>
        </p:nvSpPr>
        <p:spPr>
          <a:xfrm>
            <a:off x="5575300" y="4480272"/>
            <a:ext cx="5768721"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27A"/>
                </a:solidFill>
                <a:latin typeface="IBM Plex Sans" pitchFamily="34" charset="0"/>
                <a:ea typeface="IBM Plex Sans" pitchFamily="34" charset="-122"/>
                <a:cs typeface="IBM Plex Sans" pitchFamily="34" charset="-120"/>
              </a:rPr>
              <a:t>REPOSITORY · MIT LICENSE · CONTACT</a:t>
            </a:r>
            <a:endParaRPr lang="en-US" sz="1200" dirty="0"/>
          </a:p>
        </p:txBody>
      </p:sp>
      <p:sp>
        <p:nvSpPr>
          <p:cNvPr id="18" name="Text 16"/>
          <p:cNvSpPr/>
          <p:nvPr/>
        </p:nvSpPr>
        <p:spPr>
          <a:xfrm>
            <a:off x="5575300" y="4744393"/>
            <a:ext cx="5768721" cy="256530"/>
          </a:xfrm>
          <a:prstGeom prst="rect">
            <a:avLst/>
          </a:prstGeom>
          <a:noFill/>
          <a:ln/>
        </p:spPr>
        <p:txBody>
          <a:bodyPr wrap="square" lIns="0" tIns="0" rIns="0" bIns="0" rtlCol="0" anchor="t">
            <a:normAutofit/>
          </a:bodyPr>
          <a:lstStyle/>
          <a:p>
            <a:pPr algn="l" indent="0" marL="0">
              <a:lnSpc>
                <a:spcPts val="1820"/>
              </a:lnSpc>
              <a:buNone/>
            </a:pPr>
            <a:r>
              <a:rPr lang="en-US" sz="1300" u="sng" dirty="0">
                <a:solidFill>
                  <a:srgbClr val="F6F4EE"/>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github.com/antonio-arbizzani-tonelli/llm-resource-allocation</a:t>
            </a:r>
            <a:endParaRPr lang="en-US" sz="1300" dirty="0"/>
          </a:p>
        </p:txBody>
      </p:sp>
      <p:sp>
        <p:nvSpPr>
          <p:cNvPr id="19" name="Text 17"/>
          <p:cNvSpPr/>
          <p:nvPr/>
        </p:nvSpPr>
        <p:spPr>
          <a:xfrm>
            <a:off x="5575300" y="5026323"/>
            <a:ext cx="5768721" cy="256530"/>
          </a:xfrm>
          <a:prstGeom prst="rect">
            <a:avLst/>
          </a:prstGeom>
          <a:noFill/>
          <a:ln/>
        </p:spPr>
        <p:txBody>
          <a:bodyPr wrap="square" lIns="0" tIns="0" rIns="0" bIns="0" rtlCol="0" anchor="t">
            <a:normAutofit/>
          </a:bodyPr>
          <a:lstStyle/>
          <a:p>
            <a:pPr algn="l" indent="0" marL="0">
              <a:lnSpc>
                <a:spcPts val="1820"/>
              </a:lnSpc>
              <a:buNone/>
            </a:pPr>
            <a:r>
              <a:rPr lang="en-US" sz="1300" u="sng" dirty="0">
                <a:solidFill>
                  <a:srgbClr val="F6F4EE"/>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linkedin.com/in/antonio-arbizzani-tonelli</a:t>
            </a:r>
            <a:endParaRPr lang="en-US" sz="1300" dirty="0"/>
          </a:p>
        </p:txBody>
      </p:sp>
      <p:sp>
        <p:nvSpPr>
          <p:cNvPr id="20" name="Text 18"/>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Original work: Cheng and Nguyen, arXiv:2604.07472 · measurements here are this project's own · CITATION.cff in the repository.</a:t>
            </a:r>
            <a:endParaRPr lang="en-US" sz="1200" dirty="0"/>
          </a:p>
        </p:txBody>
      </p:sp>
      <p:sp>
        <p:nvSpPr>
          <p:cNvPr id="21" name="Text 1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13 / 21</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81A"/>
                </a:solidFill>
                <a:latin typeface="IBM Plex Sans" pitchFamily="34" charset="0"/>
                <a:ea typeface="IBM Plex Sans" pitchFamily="34" charset="-122"/>
                <a:cs typeface="IBM Plex Sans" pitchFamily="34" charset="-120"/>
              </a:rPr>
              <a:t>APPENDIX A1 · UNITS</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An explicit dimensional convention</a:t>
            </a:r>
            <a:endParaRPr lang="en-US" sz="3000" dirty="0"/>
          </a:p>
        </p:txBody>
      </p:sp>
      <p:sp>
        <p:nvSpPr>
          <p:cNvPr id="4" name="Shape 2"/>
          <p:cNvSpPr/>
          <p:nvPr/>
        </p:nvSpPr>
        <p:spPr>
          <a:xfrm>
            <a:off x="815975" y="1753195"/>
            <a:ext cx="5410200" cy="2774752"/>
          </a:xfrm>
          <a:prstGeom prst="roundRect">
            <a:avLst>
              <a:gd name="adj" fmla="val 3547"/>
            </a:avLst>
          </a:prstGeom>
          <a:solidFill>
            <a:srgbClr val="FDFCF9"/>
          </a:solidFill>
          <a:ln w="6350">
            <a:solidFill>
              <a:srgbClr val="D9D5C8"/>
            </a:solidFill>
            <a:prstDash val="solid"/>
          </a:ln>
        </p:spPr>
      </p:sp>
      <p:sp>
        <p:nvSpPr>
          <p:cNvPr id="5" name="Text 3"/>
          <p:cNvSpPr/>
          <p:nvPr/>
        </p:nvSpPr>
        <p:spPr>
          <a:xfrm>
            <a:off x="1073150" y="2010370"/>
            <a:ext cx="504272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1A6"/>
                </a:solidFill>
                <a:latin typeface="IBM Plex Sans" pitchFamily="34" charset="0"/>
                <a:ea typeface="IBM Plex Sans" pitchFamily="34" charset="-122"/>
                <a:cs typeface="IBM Plex Sans" pitchFamily="34" charset="-120"/>
              </a:rPr>
              <a:t>ONE CONVERSION, SPELLED OUT</a:t>
            </a:r>
            <a:endParaRPr lang="en-US" sz="1200" dirty="0"/>
          </a:p>
        </p:txBody>
      </p:sp>
      <p:sp>
        <p:nvSpPr>
          <p:cNvPr id="6" name="Text 4"/>
          <p:cNvSpPr/>
          <p:nvPr/>
        </p:nvSpPr>
        <p:spPr>
          <a:xfrm>
            <a:off x="1073150" y="2376091"/>
            <a:ext cx="5042726" cy="61972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4213D"/>
                </a:solidFill>
                <a:latin typeface="IBM Plex Sans" pitchFamily="34" charset="0"/>
                <a:ea typeface="IBM Plex Sans" pitchFamily="34" charset="-122"/>
                <a:cs typeface="IBM Plex Sans" pitchFamily="34" charset="-120"/>
              </a:rPr>
              <a:t>KV GB per GPU = β · r · T_res · (λ / 3600) · v / (TP · PP)</a:t>
            </a:r>
            <a:endParaRPr lang="en-US" sz="1800" dirty="0"/>
          </a:p>
        </p:txBody>
      </p:sp>
      <p:sp>
        <p:nvSpPr>
          <p:cNvPr id="7" name="Text 5"/>
          <p:cNvSpPr/>
          <p:nvPr/>
        </p:nvSpPr>
        <p:spPr>
          <a:xfrm>
            <a:off x="1073150" y="3122811"/>
            <a:ext cx="504272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λ is in requests per hour and T_res in seconds, so the factor 3600 turns arrivals into average concurrent requests.</a:t>
            </a:r>
            <a:endParaRPr lang="en-US" sz="1400" dirty="0"/>
          </a:p>
        </p:txBody>
      </p:sp>
      <p:sp>
        <p:nvSpPr>
          <p:cNvPr id="8" name="Text 6"/>
          <p:cNvSpPr/>
          <p:nvPr/>
        </p:nvSpPr>
        <p:spPr>
          <a:xfrm>
            <a:off x="1073150" y="3772991"/>
            <a:ext cx="504272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 historical printed arithmetic stays available and clearly labeled as LITERAL_PAPER; new instances are COHERENT.</a:t>
            </a:r>
            <a:endParaRPr lang="en-US" sz="1400" dirty="0"/>
          </a:p>
        </p:txBody>
      </p:sp>
      <p:sp>
        <p:nvSpPr>
          <p:cNvPr id="9" name="Shape 7"/>
          <p:cNvSpPr/>
          <p:nvPr/>
        </p:nvSpPr>
        <p:spPr>
          <a:xfrm>
            <a:off x="6483350" y="1750020"/>
            <a:ext cx="4895850" cy="2721124"/>
          </a:xfrm>
          <a:prstGeom prst="rect">
            <a:avLst/>
          </a:prstGeom>
          <a:solidFill>
            <a:srgbClr val="FDFCF9"/>
          </a:solidFill>
          <a:ln/>
        </p:spPr>
      </p:sp>
      <p:sp>
        <p:nvSpPr>
          <p:cNvPr id="10" name="Shape 8"/>
          <p:cNvSpPr/>
          <p:nvPr/>
        </p:nvSpPr>
        <p:spPr>
          <a:xfrm>
            <a:off x="11376025" y="1750020"/>
            <a:ext cx="0" cy="2721124"/>
          </a:xfrm>
          <a:prstGeom prst="line">
            <a:avLst/>
          </a:prstGeom>
          <a:noFill/>
          <a:ln w="6350">
            <a:solidFill>
              <a:srgbClr val="D9D5C8"/>
            </a:solidFill>
            <a:prstDash val="solid"/>
          </a:ln>
        </p:spPr>
      </p:sp>
      <p:sp>
        <p:nvSpPr>
          <p:cNvPr id="11" name="Shape 9"/>
          <p:cNvSpPr/>
          <p:nvPr/>
        </p:nvSpPr>
        <p:spPr>
          <a:xfrm>
            <a:off x="6483350" y="4467969"/>
            <a:ext cx="4895850" cy="0"/>
          </a:xfrm>
          <a:prstGeom prst="line">
            <a:avLst/>
          </a:prstGeom>
          <a:noFill/>
          <a:ln w="6350">
            <a:solidFill>
              <a:srgbClr val="D9D5C8"/>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96050" y="1762720"/>
          <a:ext cx="4876800" cy="2702074"/>
        </p:xfrm>
        <a:graphic>
          <a:graphicData uri="http://schemas.openxmlformats.org/drawingml/2006/table">
            <a:tbl>
              <a:tblPr/>
              <a:tblGrid>
                <a:gridCol w="2438400"/>
                <a:gridCol w="2438400"/>
              </a:tblGrid>
              <a:tr h="386011">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Quantity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Unit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Arrival rate λ</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requests/hour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KV residency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seconds/request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Data residency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hours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Horizon 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hours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Processing delay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seconds/request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Delay penalty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USD/(ms·request)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bl>
          </a:graphicData>
        </a:graphic>
      </p:graphicFrame>
      <p:sp>
        <p:nvSpPr>
          <p:cNvPr id="13" name="Text 10"/>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The dimensional reading is a project choice, not a claim about what the paper printed.</a:t>
            </a:r>
            <a:endParaRPr lang="en-US" sz="1200" dirty="0"/>
          </a:p>
        </p:txBody>
      </p:sp>
      <p:sp>
        <p:nvSpPr>
          <p:cNvPr id="14"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14 / 21</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81A"/>
                </a:solidFill>
                <a:latin typeface="IBM Plex Sans" pitchFamily="34" charset="0"/>
                <a:ea typeface="IBM Plex Sans" pitchFamily="34" charset="-122"/>
                <a:cs typeface="IBM Plex Sans" pitchFamily="34" charset="-120"/>
              </a:rPr>
              <a:t>APPENDIX A2 · MENU SCALING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Larger model and GPU-tier menus at 64 queries</a:t>
            </a:r>
            <a:endParaRPr lang="en-US" sz="3000" dirty="0"/>
          </a:p>
        </p:txBody>
      </p:sp>
      <p:sp>
        <p:nvSpPr>
          <p:cNvPr id="4" name="Shape 2"/>
          <p:cNvSpPr/>
          <p:nvPr/>
        </p:nvSpPr>
        <p:spPr>
          <a:xfrm>
            <a:off x="812800" y="1750020"/>
            <a:ext cx="6985000" cy="3302000"/>
          </a:xfrm>
          <a:prstGeom prst="roundRect">
            <a:avLst>
              <a:gd name="adj" fmla="val 3077"/>
            </a:avLst>
          </a:prstGeom>
          <a:solidFill>
            <a:srgbClr val="FFFFFF"/>
          </a:solidFill>
          <a:ln/>
        </p:spPr>
      </p:sp>
      <p:pic>
        <p:nvPicPr>
          <p:cNvPr id="5" name="Image 0" descr="Median native core time per instance against menu size J times K from 16 to 144 at 64 queries, log-log axes, five input seeds; AGH slope 1.45 and GH slope 0.95 with 95% bands">    </p:cNvPr>
          <p:cNvPicPr>
            <a:picLocks noChangeAspect="1"/>
          </p:cNvPicPr>
          <p:nvPr/>
        </p:nvPicPr>
        <p:blipFill>
          <a:blip r:embed="rId1"/>
          <a:srcRect l="-102" r="-102" t="0" b="0"/>
          <a:stretch/>
        </p:blipFill>
        <p:spPr>
          <a:xfrm>
            <a:off x="819150" y="1756370"/>
            <a:ext cx="6972300" cy="3289300"/>
          </a:xfrm>
          <a:prstGeom prst="roundRect">
            <a:avLst>
              <a:gd name="adj" fmla="val 2896"/>
            </a:avLst>
          </a:prstGeom>
        </p:spPr>
      </p:pic>
      <p:sp>
        <p:nvSpPr>
          <p:cNvPr id="6" name="Shape 3"/>
          <p:cNvSpPr/>
          <p:nvPr/>
        </p:nvSpPr>
        <p:spPr>
          <a:xfrm>
            <a:off x="815975" y="1753195"/>
            <a:ext cx="6978650" cy="3295650"/>
          </a:xfrm>
          <a:prstGeom prst="roundRect">
            <a:avLst>
              <a:gd name="adj" fmla="val 2987"/>
            </a:avLst>
          </a:prstGeom>
          <a:noFill/>
          <a:ln w="6350">
            <a:solidFill>
              <a:srgbClr val="D9D5C8"/>
            </a:solidFill>
            <a:prstDash val="solid"/>
          </a:ln>
        </p:spPr>
      </p:sp>
      <p:sp>
        <p:nvSpPr>
          <p:cNvPr id="7" name="Text 4"/>
          <p:cNvSpPr/>
          <p:nvPr/>
        </p:nvSpPr>
        <p:spPr>
          <a:xfrm>
            <a:off x="812800" y="5179020"/>
            <a:ext cx="71945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Menus 4×4, 8×4, 8×8 and 12×12 at I = 64 (products 16–144). Every point has an independent final-decision check.</a:t>
            </a:r>
            <a:endParaRPr lang="en-US" sz="1200" dirty="0"/>
          </a:p>
        </p:txBody>
      </p:sp>
      <p:sp>
        <p:nvSpPr>
          <p:cNvPr id="8" name="Shape 5"/>
          <p:cNvSpPr/>
          <p:nvPr/>
        </p:nvSpPr>
        <p:spPr>
          <a:xfrm>
            <a:off x="8054975" y="1753195"/>
            <a:ext cx="3321050" cy="1215281"/>
          </a:xfrm>
          <a:prstGeom prst="roundRect">
            <a:avLst>
              <a:gd name="adj" fmla="val 8099"/>
            </a:avLst>
          </a:prstGeom>
          <a:solidFill>
            <a:srgbClr val="FDFCF9"/>
          </a:solidFill>
          <a:ln w="6350">
            <a:solidFill>
              <a:srgbClr val="D9D5C8"/>
            </a:solidFill>
            <a:prstDash val="solid"/>
          </a:ln>
        </p:spPr>
      </p:sp>
      <p:sp>
        <p:nvSpPr>
          <p:cNvPr id="9" name="Text 6"/>
          <p:cNvSpPr/>
          <p:nvPr/>
        </p:nvSpPr>
        <p:spPr>
          <a:xfrm>
            <a:off x="8235950" y="1908770"/>
            <a:ext cx="30478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GH slope</a:t>
            </a:r>
            <a:endParaRPr lang="en-US" sz="1200" dirty="0"/>
          </a:p>
        </p:txBody>
      </p:sp>
      <p:sp>
        <p:nvSpPr>
          <p:cNvPr id="10" name="Text 7"/>
          <p:cNvSpPr/>
          <p:nvPr/>
        </p:nvSpPr>
        <p:spPr>
          <a:xfrm>
            <a:off x="8235950" y="2147491"/>
            <a:ext cx="3047873"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14213D"/>
                </a:solidFill>
                <a:latin typeface="Source Serif 4" pitchFamily="18" charset="0"/>
                <a:ea typeface="Source Serif 4" pitchFamily="18" charset="-122"/>
                <a:cs typeface="Source Serif 4" pitchFamily="18" charset="-120"/>
              </a:rPr>
              <a:t>0.9455</a:t>
            </a:r>
            <a:endParaRPr lang="en-US" sz="3200" dirty="0"/>
          </a:p>
        </p:txBody>
      </p:sp>
      <p:sp>
        <p:nvSpPr>
          <p:cNvPr id="11" name="Text 8"/>
          <p:cNvSpPr/>
          <p:nvPr/>
        </p:nvSpPr>
        <p:spPr>
          <a:xfrm>
            <a:off x="8235950" y="2599581"/>
            <a:ext cx="30478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CI [0.9185, 0.9707] · R² 0.9928</a:t>
            </a:r>
            <a:endParaRPr lang="en-US" sz="1200" dirty="0"/>
          </a:p>
        </p:txBody>
      </p:sp>
      <p:sp>
        <p:nvSpPr>
          <p:cNvPr id="12" name="Shape 9"/>
          <p:cNvSpPr/>
          <p:nvPr/>
        </p:nvSpPr>
        <p:spPr>
          <a:xfrm>
            <a:off x="8051800" y="3073251"/>
            <a:ext cx="3327400" cy="1208931"/>
          </a:xfrm>
          <a:prstGeom prst="roundRect">
            <a:avLst>
              <a:gd name="adj" fmla="val 8404"/>
            </a:avLst>
          </a:prstGeom>
          <a:solidFill>
            <a:srgbClr val="14213D"/>
          </a:solidFill>
          <a:ln/>
        </p:spPr>
      </p:sp>
      <p:sp>
        <p:nvSpPr>
          <p:cNvPr id="13" name="Text 10"/>
          <p:cNvSpPr/>
          <p:nvPr/>
        </p:nvSpPr>
        <p:spPr>
          <a:xfrm>
            <a:off x="8229600" y="3225651"/>
            <a:ext cx="30609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27A"/>
                </a:solidFill>
                <a:latin typeface="IBM Plex Sans" pitchFamily="34" charset="0"/>
                <a:ea typeface="IBM Plex Sans" pitchFamily="34" charset="-122"/>
                <a:cs typeface="IBM Plex Sans" pitchFamily="34" charset="-120"/>
              </a:rPr>
              <a:t>AGH slope</a:t>
            </a:r>
            <a:endParaRPr lang="en-US" sz="1200" dirty="0"/>
          </a:p>
        </p:txBody>
      </p:sp>
      <p:sp>
        <p:nvSpPr>
          <p:cNvPr id="14" name="Text 11"/>
          <p:cNvSpPr/>
          <p:nvPr/>
        </p:nvSpPr>
        <p:spPr>
          <a:xfrm>
            <a:off x="8229600" y="3464371"/>
            <a:ext cx="3060954"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F6F4EE"/>
                </a:solidFill>
                <a:latin typeface="Source Serif 4" pitchFamily="18" charset="0"/>
                <a:ea typeface="Source Serif 4" pitchFamily="18" charset="-122"/>
                <a:cs typeface="Source Serif 4" pitchFamily="18" charset="-120"/>
              </a:rPr>
              <a:t>1.4461</a:t>
            </a:r>
            <a:endParaRPr lang="en-US" sz="3200" dirty="0"/>
          </a:p>
        </p:txBody>
      </p:sp>
      <p:sp>
        <p:nvSpPr>
          <p:cNvPr id="15" name="Text 12"/>
          <p:cNvSpPr/>
          <p:nvPr/>
        </p:nvSpPr>
        <p:spPr>
          <a:xfrm>
            <a:off x="8229600" y="3916462"/>
            <a:ext cx="30609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CI [1.4065, 1.4998] · R² 0.9694</a:t>
            </a:r>
            <a:endParaRPr lang="en-US" sz="1200" dirty="0"/>
          </a:p>
        </p:txBody>
      </p:sp>
      <p:sp>
        <p:nvSpPr>
          <p:cNvPr id="16" name="Shape 13"/>
          <p:cNvSpPr/>
          <p:nvPr/>
        </p:nvSpPr>
        <p:spPr>
          <a:xfrm>
            <a:off x="8054975" y="4386957"/>
            <a:ext cx="3321050" cy="1215529"/>
          </a:xfrm>
          <a:prstGeom prst="roundRect">
            <a:avLst>
              <a:gd name="adj" fmla="val 8097"/>
            </a:avLst>
          </a:prstGeom>
          <a:solidFill>
            <a:srgbClr val="FDFCF9"/>
          </a:solidFill>
          <a:ln w="6350">
            <a:solidFill>
              <a:srgbClr val="D9D5C8"/>
            </a:solidFill>
            <a:prstDash val="solid"/>
          </a:ln>
        </p:spPr>
      </p:sp>
      <p:sp>
        <p:nvSpPr>
          <p:cNvPr id="17" name="Text 14"/>
          <p:cNvSpPr/>
          <p:nvPr/>
        </p:nvSpPr>
        <p:spPr>
          <a:xfrm>
            <a:off x="8235950" y="4542532"/>
            <a:ext cx="304787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1A6"/>
                </a:solidFill>
                <a:latin typeface="IBM Plex Sans" pitchFamily="34" charset="0"/>
                <a:ea typeface="IBM Plex Sans" pitchFamily="34" charset="-122"/>
                <a:cs typeface="IBM Plex Sans" pitchFamily="34" charset="-120"/>
              </a:rPr>
              <a:t>LIMIT</a:t>
            </a:r>
            <a:endParaRPr lang="en-US" sz="1200" dirty="0"/>
          </a:p>
        </p:txBody>
      </p:sp>
      <p:sp>
        <p:nvSpPr>
          <p:cNvPr id="18" name="Text 15"/>
          <p:cNvSpPr/>
          <p:nvPr/>
        </p:nvSpPr>
        <p:spPr>
          <a:xfrm>
            <a:off x="8235950" y="4806652"/>
            <a:ext cx="304787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Menu aspect ratios and structural branches confound a single product exponent.</a:t>
            </a:r>
            <a:endParaRPr lang="en-US" sz="1200" dirty="0"/>
          </a:p>
        </p:txBody>
      </p:sp>
      <p:sp>
        <p:nvSpPr>
          <p:cNvPr id="19" name="Text 16"/>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Source: WP5 instance-scaling analysis · descriptive observed-range fits · commit 80a9625.</a:t>
            </a:r>
            <a:endParaRPr lang="en-US" sz="1200" dirty="0"/>
          </a:p>
        </p:txBody>
      </p:sp>
      <p:sp>
        <p:nvSpPr>
          <p:cNvPr id="20" name="Text 1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15 / 21</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81A"/>
                </a:solidFill>
                <a:latin typeface="IBM Plex Sans" pitchFamily="34" charset="0"/>
                <a:ea typeface="IBM Plex Sans" pitchFamily="34" charset="-122"/>
                <a:cs typeface="IBM Plex Sans" pitchFamily="34" charset="-120"/>
              </a:rPr>
              <a:t>APPENDIX A3 · SOLVER BUDGETS</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More solver time changes the ordering on one input</a:t>
            </a:r>
            <a:endParaRPr lang="en-US" sz="3000" dirty="0"/>
          </a:p>
        </p:txBody>
      </p:sp>
      <p:sp>
        <p:nvSpPr>
          <p:cNvPr id="4" name="Shape 2"/>
          <p:cNvSpPr/>
          <p:nvPr/>
        </p:nvSpPr>
        <p:spPr>
          <a:xfrm>
            <a:off x="815975" y="1753195"/>
            <a:ext cx="10560050" cy="2150070"/>
          </a:xfrm>
          <a:prstGeom prst="roundRect">
            <a:avLst>
              <a:gd name="adj" fmla="val 4578"/>
            </a:avLst>
          </a:prstGeom>
          <a:solidFill>
            <a:srgbClr val="FDFCF9"/>
          </a:solidFill>
          <a:ln w="6350">
            <a:solidFill>
              <a:srgbClr val="D9D5C8"/>
            </a:solidFill>
            <a:prstDash val="solid"/>
          </a:ln>
        </p:spPr>
      </p:sp>
      <p:sp>
        <p:nvSpPr>
          <p:cNvPr id="5" name="Text 3"/>
          <p:cNvSpPr/>
          <p:nvPr/>
        </p:nvSpPr>
        <p:spPr>
          <a:xfrm>
            <a:off x="1022350" y="1959570"/>
            <a:ext cx="1045171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1A6"/>
                </a:solidFill>
                <a:latin typeface="IBM Plex Sans" pitchFamily="34" charset="0"/>
                <a:ea typeface="IBM Plex Sans" pitchFamily="34" charset="-122"/>
                <a:cs typeface="IBM Plex Sans" pitchFamily="34" charset="-120"/>
              </a:rPr>
              <a:t>10×10×10, LOAD 1 · ACCEPTED MODELED COST, USD</a:t>
            </a:r>
            <a:endParaRPr lang="en-US" sz="1200" dirty="0"/>
          </a:p>
        </p:txBody>
      </p:sp>
      <p:sp>
        <p:nvSpPr>
          <p:cNvPr id="6" name="Text 4"/>
          <p:cNvSpPr/>
          <p:nvPr/>
        </p:nvSpPr>
        <p:spPr>
          <a:xfrm>
            <a:off x="1022350" y="2302421"/>
            <a:ext cx="287782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AGH</a:t>
            </a:r>
            <a:r>
              <a:rPr lang="en-US" sz="1400" dirty="0">
                <a:solidFill>
                  <a:srgbClr val="14213D"/>
                </a:solidFill>
                <a:latin typeface="IBM Plex Sans" pitchFamily="34" charset="0"/>
                <a:ea typeface="IBM Plex Sans" pitchFamily="34" charset="-122"/>
                <a:cs typeface="IBM Plex Sans" pitchFamily="34" charset="-120"/>
              </a:rPr>
              <a:t> · accepted heuristic</a:t>
            </a:r>
            <a:endParaRPr lang="en-US" sz="1400" dirty="0"/>
          </a:p>
        </p:txBody>
      </p:sp>
      <p:sp>
        <p:nvSpPr>
          <p:cNvPr id="7" name="Shape 5"/>
          <p:cNvSpPr/>
          <p:nvPr/>
        </p:nvSpPr>
        <p:spPr>
          <a:xfrm>
            <a:off x="3968750" y="2299891"/>
            <a:ext cx="4356100" cy="254000"/>
          </a:xfrm>
          <a:prstGeom prst="rect">
            <a:avLst/>
          </a:prstGeom>
          <a:solidFill>
            <a:srgbClr val="B8481A"/>
          </a:solidFill>
          <a:ln/>
        </p:spPr>
      </p:sp>
      <p:sp>
        <p:nvSpPr>
          <p:cNvPr id="8" name="Text 6"/>
          <p:cNvSpPr/>
          <p:nvPr/>
        </p:nvSpPr>
        <p:spPr>
          <a:xfrm>
            <a:off x="8477250" y="2302421"/>
            <a:ext cx="1023759"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1,150.055</a:t>
            </a:r>
            <a:endParaRPr lang="en-US" sz="1400" dirty="0"/>
          </a:p>
        </p:txBody>
      </p:sp>
      <p:sp>
        <p:nvSpPr>
          <p:cNvPr id="9" name="Text 7"/>
          <p:cNvSpPr/>
          <p:nvPr/>
        </p:nvSpPr>
        <p:spPr>
          <a:xfrm>
            <a:off x="1022350" y="2683421"/>
            <a:ext cx="287782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HiGHS 20 s</a:t>
            </a:r>
            <a:r>
              <a:rPr lang="en-US" sz="1400" dirty="0">
                <a:solidFill>
                  <a:srgbClr val="14213D"/>
                </a:solidFill>
                <a:latin typeface="IBM Plex Sans" pitchFamily="34" charset="0"/>
                <a:ea typeface="IBM Plex Sans" pitchFamily="34" charset="-122"/>
                <a:cs typeface="IBM Plex Sans" pitchFamily="34" charset="-120"/>
              </a:rPr>
              <a:t> · incumbent</a:t>
            </a:r>
            <a:endParaRPr lang="en-US" sz="1400" dirty="0"/>
          </a:p>
        </p:txBody>
      </p:sp>
      <p:sp>
        <p:nvSpPr>
          <p:cNvPr id="10" name="Shape 8"/>
          <p:cNvSpPr/>
          <p:nvPr/>
        </p:nvSpPr>
        <p:spPr>
          <a:xfrm>
            <a:off x="3968750" y="2680891"/>
            <a:ext cx="4826000" cy="254000"/>
          </a:xfrm>
          <a:prstGeom prst="rect">
            <a:avLst/>
          </a:prstGeom>
          <a:solidFill>
            <a:srgbClr val="2561A6"/>
          </a:solidFill>
          <a:ln/>
        </p:spPr>
      </p:sp>
      <p:sp>
        <p:nvSpPr>
          <p:cNvPr id="11" name="Text 9"/>
          <p:cNvSpPr/>
          <p:nvPr/>
        </p:nvSpPr>
        <p:spPr>
          <a:xfrm>
            <a:off x="8947150" y="2683421"/>
            <a:ext cx="1023759"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1,274.759</a:t>
            </a:r>
            <a:endParaRPr lang="en-US" sz="1400" dirty="0"/>
          </a:p>
        </p:txBody>
      </p:sp>
      <p:sp>
        <p:nvSpPr>
          <p:cNvPr id="12" name="Text 10"/>
          <p:cNvSpPr/>
          <p:nvPr/>
        </p:nvSpPr>
        <p:spPr>
          <a:xfrm>
            <a:off x="1022350" y="3064421"/>
            <a:ext cx="287782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HiGHS 120 s</a:t>
            </a:r>
            <a:r>
              <a:rPr lang="en-US" sz="1400" dirty="0">
                <a:solidFill>
                  <a:srgbClr val="14213D"/>
                </a:solidFill>
                <a:latin typeface="IBM Plex Sans" pitchFamily="34" charset="0"/>
                <a:ea typeface="IBM Plex Sans" pitchFamily="34" charset="-122"/>
                <a:cs typeface="IBM Plex Sans" pitchFamily="34" charset="-120"/>
              </a:rPr>
              <a:t> · incumbent</a:t>
            </a:r>
            <a:endParaRPr lang="en-US" sz="1400" dirty="0"/>
          </a:p>
        </p:txBody>
      </p:sp>
      <p:sp>
        <p:nvSpPr>
          <p:cNvPr id="13" name="Shape 11"/>
          <p:cNvSpPr/>
          <p:nvPr/>
        </p:nvSpPr>
        <p:spPr>
          <a:xfrm>
            <a:off x="3968750" y="3061891"/>
            <a:ext cx="3467100" cy="254000"/>
          </a:xfrm>
          <a:prstGeom prst="rect">
            <a:avLst/>
          </a:prstGeom>
          <a:solidFill>
            <a:srgbClr val="2561A6"/>
          </a:solidFill>
          <a:ln/>
        </p:spPr>
      </p:sp>
      <p:sp>
        <p:nvSpPr>
          <p:cNvPr id="14" name="Text 12"/>
          <p:cNvSpPr/>
          <p:nvPr/>
        </p:nvSpPr>
        <p:spPr>
          <a:xfrm>
            <a:off x="7588250" y="3064421"/>
            <a:ext cx="831949"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915.549</a:t>
            </a:r>
            <a:endParaRPr lang="en-US" sz="1400" dirty="0"/>
          </a:p>
        </p:txBody>
      </p:sp>
      <p:sp>
        <p:nvSpPr>
          <p:cNvPr id="15" name="Text 13"/>
          <p:cNvSpPr/>
          <p:nvPr/>
        </p:nvSpPr>
        <p:spPr>
          <a:xfrm>
            <a:off x="1022350" y="3445421"/>
            <a:ext cx="287782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HiGHS 600 s</a:t>
            </a:r>
            <a:r>
              <a:rPr lang="en-US" sz="1400" dirty="0">
                <a:solidFill>
                  <a:srgbClr val="14213D"/>
                </a:solidFill>
                <a:latin typeface="IBM Plex Sans" pitchFamily="34" charset="0"/>
                <a:ea typeface="IBM Plex Sans" pitchFamily="34" charset="-122"/>
                <a:cs typeface="IBM Plex Sans" pitchFamily="34" charset="-120"/>
              </a:rPr>
              <a:t> · incumbent</a:t>
            </a:r>
            <a:endParaRPr lang="en-US" sz="1400" dirty="0"/>
          </a:p>
        </p:txBody>
      </p:sp>
      <p:sp>
        <p:nvSpPr>
          <p:cNvPr id="16" name="Shape 14"/>
          <p:cNvSpPr/>
          <p:nvPr/>
        </p:nvSpPr>
        <p:spPr>
          <a:xfrm>
            <a:off x="3968750" y="3442891"/>
            <a:ext cx="3467100" cy="254000"/>
          </a:xfrm>
          <a:prstGeom prst="rect">
            <a:avLst/>
          </a:prstGeom>
          <a:solidFill>
            <a:srgbClr val="2561A6"/>
          </a:solidFill>
          <a:ln/>
        </p:spPr>
      </p:sp>
      <p:sp>
        <p:nvSpPr>
          <p:cNvPr id="17" name="Text 15"/>
          <p:cNvSpPr/>
          <p:nvPr/>
        </p:nvSpPr>
        <p:spPr>
          <a:xfrm>
            <a:off x="7588250" y="3445421"/>
            <a:ext cx="831949"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915.549</a:t>
            </a:r>
            <a:endParaRPr lang="en-US" sz="1400" dirty="0"/>
          </a:p>
        </p:txBody>
      </p:sp>
      <p:sp>
        <p:nvSpPr>
          <p:cNvPr id="18" name="Shape 16"/>
          <p:cNvSpPr/>
          <p:nvPr/>
        </p:nvSpPr>
        <p:spPr>
          <a:xfrm>
            <a:off x="812800" y="4135041"/>
            <a:ext cx="3403600" cy="1330821"/>
          </a:xfrm>
          <a:prstGeom prst="roundRect">
            <a:avLst>
              <a:gd name="adj" fmla="val 7634"/>
            </a:avLst>
          </a:prstGeom>
          <a:solidFill>
            <a:srgbClr val="E3ECF7"/>
          </a:solidFill>
          <a:ln/>
        </p:spPr>
      </p:sp>
      <p:sp>
        <p:nvSpPr>
          <p:cNvPr id="19" name="Text 17"/>
          <p:cNvSpPr/>
          <p:nvPr/>
        </p:nvSpPr>
        <p:spPr>
          <a:xfrm>
            <a:off x="990600" y="4287441"/>
            <a:ext cx="3139440"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4213D"/>
                </a:solidFill>
                <a:latin typeface="Source Serif 4" pitchFamily="18" charset="0"/>
                <a:ea typeface="Source Serif 4" pitchFamily="18" charset="-122"/>
                <a:cs typeface="Source Serif 4" pitchFamily="18" charset="-120"/>
              </a:rPr>
              <a:t>18/20</a:t>
            </a:r>
            <a:endParaRPr lang="en-US" sz="2400" dirty="0"/>
          </a:p>
        </p:txBody>
      </p:sp>
      <p:sp>
        <p:nvSpPr>
          <p:cNvPr id="20" name="Text 18"/>
          <p:cNvSpPr/>
          <p:nvPr/>
        </p:nvSpPr>
        <p:spPr>
          <a:xfrm>
            <a:off x="990600" y="4673501"/>
            <a:ext cx="31394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measured jobs accepted (20/20 completed) on four fixed inputs, fresh cold solves</a:t>
            </a:r>
            <a:endParaRPr lang="en-US" sz="1200" dirty="0"/>
          </a:p>
        </p:txBody>
      </p:sp>
      <p:sp>
        <p:nvSpPr>
          <p:cNvPr id="21" name="Shape 19"/>
          <p:cNvSpPr/>
          <p:nvPr/>
        </p:nvSpPr>
        <p:spPr>
          <a:xfrm>
            <a:off x="4394200" y="4135041"/>
            <a:ext cx="3403600" cy="1330821"/>
          </a:xfrm>
          <a:prstGeom prst="roundRect">
            <a:avLst>
              <a:gd name="adj" fmla="val 7634"/>
            </a:avLst>
          </a:prstGeom>
          <a:solidFill>
            <a:srgbClr val="E3ECF7"/>
          </a:solidFill>
          <a:ln/>
        </p:spPr>
      </p:sp>
      <p:sp>
        <p:nvSpPr>
          <p:cNvPr id="22" name="Text 20"/>
          <p:cNvSpPr/>
          <p:nvPr/>
        </p:nvSpPr>
        <p:spPr>
          <a:xfrm>
            <a:off x="4572000" y="4287441"/>
            <a:ext cx="3139440"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4213D"/>
                </a:solidFill>
                <a:latin typeface="Source Serif 4" pitchFamily="18" charset="0"/>
                <a:ea typeface="Source Serif 4" pitchFamily="18" charset="-122"/>
                <a:cs typeface="Source Serif 4" pitchFamily="18" charset="-120"/>
              </a:rPr>
              <a:t>12/12</a:t>
            </a:r>
            <a:endParaRPr lang="en-US" sz="2400" dirty="0"/>
          </a:p>
        </p:txBody>
      </p:sp>
      <p:sp>
        <p:nvSpPr>
          <p:cNvPr id="23" name="Text 21"/>
          <p:cNvSpPr/>
          <p:nvPr/>
        </p:nvSpPr>
        <p:spPr>
          <a:xfrm>
            <a:off x="4572000" y="4673501"/>
            <a:ext cx="313944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MILPs end at the time limit; normalized gaps 0.987–0.99999998: weak bounds, no optimum</a:t>
            </a:r>
            <a:endParaRPr lang="en-US" sz="1200" dirty="0"/>
          </a:p>
        </p:txBody>
      </p:sp>
      <p:sp>
        <p:nvSpPr>
          <p:cNvPr id="24" name="Shape 22"/>
          <p:cNvSpPr/>
          <p:nvPr/>
        </p:nvSpPr>
        <p:spPr>
          <a:xfrm>
            <a:off x="7975600" y="4135041"/>
            <a:ext cx="3403600" cy="1330821"/>
          </a:xfrm>
          <a:prstGeom prst="roundRect">
            <a:avLst>
              <a:gd name="adj" fmla="val 7634"/>
            </a:avLst>
          </a:prstGeom>
          <a:solidFill>
            <a:srgbClr val="E3ECF7"/>
          </a:solidFill>
          <a:ln/>
        </p:spPr>
      </p:sp>
      <p:sp>
        <p:nvSpPr>
          <p:cNvPr id="25" name="Text 23"/>
          <p:cNvSpPr/>
          <p:nvPr/>
        </p:nvSpPr>
        <p:spPr>
          <a:xfrm>
            <a:off x="8153400" y="4287441"/>
            <a:ext cx="3139440"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4213D"/>
                </a:solidFill>
                <a:latin typeface="Source Serif 4" pitchFamily="18" charset="0"/>
                <a:ea typeface="Source Serif 4" pitchFamily="18" charset="-122"/>
                <a:cs typeface="Source Serif 4" pitchFamily="18" charset="-120"/>
              </a:rPr>
              <a:t>0.845 → 2.103</a:t>
            </a:r>
            <a:endParaRPr lang="en-US" sz="2400" dirty="0"/>
          </a:p>
        </p:txBody>
      </p:sp>
      <p:sp>
        <p:nvSpPr>
          <p:cNvPr id="26" name="Text 24"/>
          <p:cNvSpPr/>
          <p:nvPr/>
        </p:nvSpPr>
        <p:spPr>
          <a:xfrm>
            <a:off x="8153400" y="4673501"/>
            <a:ext cx="31394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median AGH/HiGHS cost: 20 s (4/4 pairs) vs 120 and 600 s (3/4 pairs); cohorts differ</a:t>
            </a:r>
            <a:endParaRPr lang="en-US" sz="1200" dirty="0"/>
          </a:p>
        </p:txBody>
      </p:sp>
      <p:sp>
        <p:nvSpPr>
          <p:cNvPr id="27" name="Text 25"/>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Source: WP6 solver-quality analysis · HiGHS only: Gurobi WSL license unavailable · commit 80a9625.</a:t>
            </a:r>
            <a:endParaRPr lang="en-US" sz="1200" dirty="0"/>
          </a:p>
        </p:txBody>
      </p:sp>
      <p:sp>
        <p:nvSpPr>
          <p:cNvPr id="28" name="Text 2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16 / 21</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12973"/>
          </a:xfrm>
          <a:prstGeom prst="rect">
            <a:avLst/>
          </a:prstGeom>
          <a:noFill/>
          <a:ln/>
        </p:spPr>
        <p:txBody>
          <a:bodyPr wrap="square" lIns="0" tIns="0" rIns="0" bIns="0" rtlCol="0" anchor="t">
            <a:normAutofit/>
          </a:bodyPr>
          <a:lstStyle/>
          <a:p>
            <a:pPr algn="l" indent="0" marL="0">
              <a:lnSpc>
                <a:spcPts val="1523"/>
              </a:lnSpc>
              <a:buNone/>
            </a:pPr>
            <a:r>
              <a:rPr lang="en-US" sz="1088" b="1" spc="150" kern="0" dirty="0">
                <a:solidFill>
                  <a:srgbClr val="B8481A"/>
                </a:solidFill>
                <a:latin typeface="IBM Plex Sans" pitchFamily="34" charset="0"/>
                <a:ea typeface="IBM Plex Sans" pitchFamily="34" charset="-122"/>
                <a:cs typeface="IBM Plex Sans" pitchFamily="34" charset="-120"/>
              </a:rPr>
              <a:t>APPENDIX A4 · STAGE 2, ORIGINAL CAMPAIGN (OCT 13)</a:t>
            </a:r>
            <a:endParaRPr lang="en-US" sz="1088" dirty="0"/>
          </a:p>
        </p:txBody>
      </p:sp>
      <p:sp>
        <p:nvSpPr>
          <p:cNvPr id="3" name="Text 1"/>
          <p:cNvSpPr/>
          <p:nvPr>
            <p:ph type="title"/>
          </p:nvPr>
        </p:nvSpPr>
        <p:spPr>
          <a:xfrm>
            <a:off x="812800" y="1076573"/>
            <a:ext cx="10883392" cy="393849"/>
          </a:xfrm>
          <a:prstGeom prst="rect">
            <a:avLst/>
          </a:prstGeom>
          <a:noFill/>
          <a:ln/>
        </p:spPr>
        <p:txBody>
          <a:bodyPr wrap="square" lIns="0" tIns="0" rIns="0" bIns="0" rtlCol="0" anchor="t">
            <a:normAutofit/>
          </a:bodyPr>
          <a:lstStyle/>
          <a:p>
            <a:pPr algn="l" indent="0" marL="0">
              <a:lnSpc>
                <a:spcPts val="2918"/>
              </a:lnSpc>
              <a:buNone/>
            </a:pPr>
            <a:r>
              <a:rPr lang="en-US" sz="2653" b="1" i="0" dirty="0">
                <a:solidFill>
                  <a:srgbClr val="14213D"/>
                </a:solidFill>
                <a:latin typeface="Source Serif 4" pitchFamily="18" charset="0"/>
                <a:ea typeface="Source Serif 4" pitchFamily="18" charset="-122"/>
                <a:cs typeface="Source Serif 4" pitchFamily="18" charset="-120"/>
              </a:rPr>
              <a:t>Standard policy: 1,850 operational attempts</a:t>
            </a:r>
            <a:endParaRPr lang="en-US" sz="2653" dirty="0"/>
          </a:p>
        </p:txBody>
      </p:sp>
      <p:sp>
        <p:nvSpPr>
          <p:cNvPr id="4" name="Shape 2"/>
          <p:cNvSpPr/>
          <p:nvPr/>
        </p:nvSpPr>
        <p:spPr>
          <a:xfrm>
            <a:off x="815975" y="1676797"/>
            <a:ext cx="6724650" cy="4162028"/>
          </a:xfrm>
          <a:prstGeom prst="roundRect">
            <a:avLst>
              <a:gd name="adj" fmla="val 2365"/>
            </a:avLst>
          </a:prstGeom>
          <a:solidFill>
            <a:srgbClr val="FDFCF9"/>
          </a:solidFill>
          <a:ln w="6350">
            <a:solidFill>
              <a:srgbClr val="D9D5C8"/>
            </a:solidFill>
            <a:prstDash val="solid"/>
          </a:ln>
        </p:spPr>
      </p:sp>
      <p:sp>
        <p:nvSpPr>
          <p:cNvPr id="5" name="Text 3"/>
          <p:cNvSpPr/>
          <p:nvPr/>
        </p:nvSpPr>
        <p:spPr>
          <a:xfrm>
            <a:off x="1022350" y="1883172"/>
            <a:ext cx="6501257" cy="203250"/>
          </a:xfrm>
          <a:prstGeom prst="rect">
            <a:avLst/>
          </a:prstGeom>
          <a:noFill/>
          <a:ln/>
        </p:spPr>
        <p:txBody>
          <a:bodyPr wrap="square" lIns="0" tIns="0" rIns="0" bIns="0" rtlCol="0" anchor="t">
            <a:normAutofit/>
          </a:bodyPr>
          <a:lstStyle/>
          <a:p>
            <a:pPr algn="l" indent="0" marL="0">
              <a:lnSpc>
                <a:spcPts val="1423"/>
              </a:lnSpc>
              <a:buNone/>
            </a:pPr>
            <a:r>
              <a:rPr lang="en-US" sz="1016" b="1" spc="150" kern="0" dirty="0">
                <a:solidFill>
                  <a:srgbClr val="2561A6"/>
                </a:solidFill>
                <a:latin typeface="IBM Plex Sans" pitchFamily="34" charset="0"/>
                <a:ea typeface="IBM Plex Sans" pitchFamily="34" charset="-122"/>
                <a:cs typeface="IBM Plex Sans" pitchFamily="34" charset="-120"/>
              </a:rPr>
              <a:t>OUTCOME OF EACH ATTEMPTED LP</a:t>
            </a:r>
            <a:endParaRPr lang="en-US" sz="1016" dirty="0"/>
          </a:p>
        </p:txBody>
      </p:sp>
      <p:sp>
        <p:nvSpPr>
          <p:cNvPr id="6" name="Text 4"/>
          <p:cNvSpPr/>
          <p:nvPr/>
        </p:nvSpPr>
        <p:spPr>
          <a:xfrm>
            <a:off x="1022350" y="2298551"/>
            <a:ext cx="215836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Scientifically usable</a:t>
            </a:r>
            <a:endParaRPr lang="en-US" sz="1400" dirty="0"/>
          </a:p>
        </p:txBody>
      </p:sp>
      <p:sp>
        <p:nvSpPr>
          <p:cNvPr id="7" name="Shape 5"/>
          <p:cNvSpPr/>
          <p:nvPr/>
        </p:nvSpPr>
        <p:spPr>
          <a:xfrm>
            <a:off x="3270250" y="2232521"/>
            <a:ext cx="2463800" cy="381000"/>
          </a:xfrm>
          <a:prstGeom prst="rect">
            <a:avLst/>
          </a:prstGeom>
          <a:solidFill>
            <a:srgbClr val="2561A6"/>
          </a:solidFill>
          <a:ln/>
        </p:spPr>
      </p:sp>
      <p:sp>
        <p:nvSpPr>
          <p:cNvPr id="8" name="Text 6"/>
          <p:cNvSpPr/>
          <p:nvPr/>
        </p:nvSpPr>
        <p:spPr>
          <a:xfrm>
            <a:off x="5886450" y="2298551"/>
            <a:ext cx="38409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646</a:t>
            </a:r>
            <a:endParaRPr lang="en-US" sz="1400" dirty="0"/>
          </a:p>
        </p:txBody>
      </p:sp>
      <p:sp>
        <p:nvSpPr>
          <p:cNvPr id="9" name="Text 7"/>
          <p:cNvSpPr/>
          <p:nvPr/>
        </p:nvSpPr>
        <p:spPr>
          <a:xfrm>
            <a:off x="1022350" y="3179266"/>
            <a:ext cx="215836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Solver-infeasible</a:t>
            </a:r>
            <a:endParaRPr lang="en-US" sz="1400" dirty="0"/>
          </a:p>
        </p:txBody>
      </p:sp>
      <p:sp>
        <p:nvSpPr>
          <p:cNvPr id="10" name="Shape 8"/>
          <p:cNvSpPr/>
          <p:nvPr/>
        </p:nvSpPr>
        <p:spPr>
          <a:xfrm>
            <a:off x="3270250" y="3113236"/>
            <a:ext cx="3810000" cy="381000"/>
          </a:xfrm>
          <a:prstGeom prst="rect">
            <a:avLst/>
          </a:prstGeom>
          <a:solidFill>
            <a:srgbClr val="8A94A6"/>
          </a:solidFill>
          <a:ln/>
        </p:spPr>
      </p:sp>
      <p:sp>
        <p:nvSpPr>
          <p:cNvPr id="11" name="Text 9"/>
          <p:cNvSpPr/>
          <p:nvPr/>
        </p:nvSpPr>
        <p:spPr>
          <a:xfrm>
            <a:off x="7232650" y="2681536"/>
            <a:ext cx="152400" cy="126985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1,000</a:t>
            </a:r>
            <a:endParaRPr lang="en-US" sz="1400" dirty="0"/>
          </a:p>
        </p:txBody>
      </p:sp>
      <p:sp>
        <p:nvSpPr>
          <p:cNvPr id="12" name="Text 10"/>
          <p:cNvSpPr/>
          <p:nvPr/>
        </p:nvSpPr>
        <p:spPr>
          <a:xfrm>
            <a:off x="1022350" y="4059982"/>
            <a:ext cx="215836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Objective-only rejection</a:t>
            </a:r>
            <a:endParaRPr lang="en-US" sz="1400" dirty="0"/>
          </a:p>
        </p:txBody>
      </p:sp>
      <p:sp>
        <p:nvSpPr>
          <p:cNvPr id="13" name="Shape 11"/>
          <p:cNvSpPr/>
          <p:nvPr/>
        </p:nvSpPr>
        <p:spPr>
          <a:xfrm>
            <a:off x="3270250" y="3993952"/>
            <a:ext cx="774700" cy="381000"/>
          </a:xfrm>
          <a:prstGeom prst="rect">
            <a:avLst/>
          </a:prstGeom>
          <a:solidFill>
            <a:srgbClr val="B8481A"/>
          </a:solidFill>
          <a:ln/>
        </p:spPr>
      </p:sp>
      <p:sp>
        <p:nvSpPr>
          <p:cNvPr id="14" name="Text 12"/>
          <p:cNvSpPr/>
          <p:nvPr/>
        </p:nvSpPr>
        <p:spPr>
          <a:xfrm>
            <a:off x="4197350" y="4059982"/>
            <a:ext cx="38409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204</a:t>
            </a:r>
            <a:endParaRPr lang="en-US" sz="1400" dirty="0"/>
          </a:p>
        </p:txBody>
      </p:sp>
      <p:pic>
        <p:nvPicPr>
          <p:cNvPr id="15" name="Image 0" descr="line">    </p:cNvPr>
          <p:cNvPicPr>
            <a:picLocks noChangeAspect="1"/>
          </p:cNvPicPr>
          <p:nvPr/>
        </p:nvPicPr>
        <p:blipFill>
          <a:blip r:embed="rId1"/>
          <a:srcRect l="0" r="0" t="0" b="0"/>
          <a:stretch/>
        </p:blipFill>
        <p:spPr>
          <a:xfrm>
            <a:off x="1022350" y="4546451"/>
            <a:ext cx="6311900" cy="6350"/>
          </a:xfrm>
          <a:prstGeom prst="rect">
            <a:avLst/>
          </a:prstGeom>
        </p:spPr>
      </p:pic>
      <p:sp>
        <p:nvSpPr>
          <p:cNvPr id="16" name="Text 13"/>
          <p:cNvSpPr/>
          <p:nvPr/>
        </p:nvSpPr>
        <p:spPr>
          <a:xfrm>
            <a:off x="1022350" y="4790331"/>
            <a:ext cx="215836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Skipped, not attempted</a:t>
            </a:r>
            <a:endParaRPr lang="en-US" sz="1400" dirty="0"/>
          </a:p>
        </p:txBody>
      </p:sp>
      <p:sp>
        <p:nvSpPr>
          <p:cNvPr id="17" name="Shape 14"/>
          <p:cNvSpPr/>
          <p:nvPr/>
        </p:nvSpPr>
        <p:spPr>
          <a:xfrm>
            <a:off x="3276600" y="4730651"/>
            <a:ext cx="558800" cy="368300"/>
          </a:xfrm>
          <a:prstGeom prst="rect">
            <a:avLst/>
          </a:prstGeom>
          <a:noFill/>
          <a:ln w="12700">
            <a:solidFill>
              <a:srgbClr val="5B6472"/>
            </a:solidFill>
            <a:prstDash val="dash"/>
          </a:ln>
        </p:spPr>
      </p:sp>
      <p:sp>
        <p:nvSpPr>
          <p:cNvPr id="18" name="Text 15"/>
          <p:cNvSpPr/>
          <p:nvPr/>
        </p:nvSpPr>
        <p:spPr>
          <a:xfrm>
            <a:off x="3994150" y="4790331"/>
            <a:ext cx="38409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IBM Plex Sans" pitchFamily="34" charset="0"/>
                <a:ea typeface="IBM Plex Sans" pitchFamily="34" charset="-122"/>
                <a:cs typeface="IBM Plex Sans" pitchFamily="34" charset="-120"/>
              </a:rPr>
              <a:t>150</a:t>
            </a:r>
            <a:endParaRPr lang="en-US" sz="1400" dirty="0"/>
          </a:p>
        </p:txBody>
      </p:sp>
      <p:sp>
        <p:nvSpPr>
          <p:cNvPr id="19" name="Text 16"/>
          <p:cNvSpPr/>
          <p:nvPr/>
        </p:nvSpPr>
        <p:spPr>
          <a:xfrm>
            <a:off x="1022350" y="5276800"/>
            <a:ext cx="6501257" cy="381050"/>
          </a:xfrm>
          <a:prstGeom prst="rect">
            <a:avLst/>
          </a:prstGeom>
          <a:noFill/>
          <a:ln/>
        </p:spPr>
        <p:txBody>
          <a:bodyPr wrap="square" lIns="0" tIns="0" rIns="0" bIns="0" rtlCol="0" anchor="t">
            <a:normAutofit/>
          </a:bodyPr>
          <a:lstStyle/>
          <a:p>
            <a:pPr algn="l" indent="0" marL="0">
              <a:lnSpc>
                <a:spcPts val="1412"/>
              </a:lnSpc>
              <a:buNone/>
            </a:pPr>
            <a:r>
              <a:rPr lang="en-US" sz="1009" dirty="0">
                <a:solidFill>
                  <a:srgbClr val="4A5568"/>
                </a:solidFill>
                <a:latin typeface="IBM Plex Sans" pitchFamily="34" charset="0"/>
                <a:ea typeface="IBM Plex Sans" pitchFamily="34" charset="-122"/>
                <a:cs typeface="IBM Plex Sans" pitchFamily="34" charset="-120"/>
              </a:rPr>
              <a:t>A completed run is not an accepted decision. The 150 skipped scenarios follow three rejected Stage-1 sources and lie outside the 1,850 attempts.</a:t>
            </a:r>
            <a:endParaRPr lang="en-US" sz="1009" dirty="0"/>
          </a:p>
        </p:txBody>
      </p:sp>
      <p:sp>
        <p:nvSpPr>
          <p:cNvPr id="20" name="Shape 17"/>
          <p:cNvSpPr/>
          <p:nvPr/>
        </p:nvSpPr>
        <p:spPr>
          <a:xfrm>
            <a:off x="7797800" y="1673622"/>
            <a:ext cx="3581400" cy="1183531"/>
          </a:xfrm>
          <a:prstGeom prst="roundRect">
            <a:avLst>
              <a:gd name="adj" fmla="val 8584"/>
            </a:avLst>
          </a:prstGeom>
          <a:solidFill>
            <a:srgbClr val="14213D"/>
          </a:solidFill>
          <a:ln/>
        </p:spPr>
      </p:sp>
      <p:sp>
        <p:nvSpPr>
          <p:cNvPr id="21" name="Text 18"/>
          <p:cNvSpPr/>
          <p:nvPr/>
        </p:nvSpPr>
        <p:spPr>
          <a:xfrm>
            <a:off x="7975600" y="1826022"/>
            <a:ext cx="3322574"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F6F4EE"/>
                </a:solidFill>
                <a:latin typeface="Source Serif 4" pitchFamily="18" charset="0"/>
                <a:ea typeface="Source Serif 4" pitchFamily="18" charset="-122"/>
                <a:cs typeface="Source Serif 4" pitchFamily="18" charset="-120"/>
              </a:rPr>
              <a:t>37/40</a:t>
            </a:r>
            <a:endParaRPr lang="en-US" sz="3200" dirty="0"/>
          </a:p>
        </p:txBody>
      </p:sp>
      <p:sp>
        <p:nvSpPr>
          <p:cNvPr id="22" name="Text 19"/>
          <p:cNvSpPr/>
          <p:nvPr/>
        </p:nvSpPr>
        <p:spPr>
          <a:xfrm>
            <a:off x="7975600" y="2278112"/>
            <a:ext cx="332257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Stage-1 sources accepted; all 40 jobs completed</a:t>
            </a:r>
            <a:endParaRPr lang="en-US" sz="1200" dirty="0"/>
          </a:p>
        </p:txBody>
      </p:sp>
      <p:sp>
        <p:nvSpPr>
          <p:cNvPr id="23" name="Shape 20"/>
          <p:cNvSpPr/>
          <p:nvPr/>
        </p:nvSpPr>
        <p:spPr>
          <a:xfrm>
            <a:off x="7800975" y="2961928"/>
            <a:ext cx="3575050" cy="1189881"/>
          </a:xfrm>
          <a:prstGeom prst="roundRect">
            <a:avLst>
              <a:gd name="adj" fmla="val 8272"/>
            </a:avLst>
          </a:prstGeom>
          <a:solidFill>
            <a:srgbClr val="FDFCF9"/>
          </a:solidFill>
          <a:ln w="6350">
            <a:solidFill>
              <a:srgbClr val="D9D5C8"/>
            </a:solidFill>
            <a:prstDash val="solid"/>
          </a:ln>
        </p:spPr>
      </p:sp>
      <p:sp>
        <p:nvSpPr>
          <p:cNvPr id="24" name="Text 21"/>
          <p:cNvSpPr/>
          <p:nvPr/>
        </p:nvSpPr>
        <p:spPr>
          <a:xfrm>
            <a:off x="7981950" y="3117503"/>
            <a:ext cx="3309493"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14213D"/>
                </a:solidFill>
                <a:latin typeface="Source Serif 4" pitchFamily="18" charset="0"/>
                <a:ea typeface="Source Serif 4" pitchFamily="18" charset="-122"/>
                <a:cs typeface="Source Serif 4" pitchFamily="18" charset="-120"/>
              </a:rPr>
              <a:t>19.05%</a:t>
            </a:r>
            <a:endParaRPr lang="en-US" sz="3200" dirty="0"/>
          </a:p>
        </p:txBody>
      </p:sp>
      <p:sp>
        <p:nvSpPr>
          <p:cNvPr id="25" name="Text 22"/>
          <p:cNvSpPr/>
          <p:nvPr/>
        </p:nvSpPr>
        <p:spPr>
          <a:xfrm>
            <a:off x="7981950" y="3569593"/>
            <a:ext cx="330949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256 of 1,344 frozen-routing failures recovered by adaptation</a:t>
            </a:r>
            <a:endParaRPr lang="en-US" sz="1200" dirty="0"/>
          </a:p>
        </p:txBody>
      </p:sp>
      <p:sp>
        <p:nvSpPr>
          <p:cNvPr id="26" name="Shape 23"/>
          <p:cNvSpPr/>
          <p:nvPr/>
        </p:nvSpPr>
        <p:spPr>
          <a:xfrm>
            <a:off x="7800975" y="4259759"/>
            <a:ext cx="3575050" cy="1579066"/>
          </a:xfrm>
          <a:prstGeom prst="roundRect">
            <a:avLst>
              <a:gd name="adj" fmla="val 6233"/>
            </a:avLst>
          </a:prstGeom>
          <a:solidFill>
            <a:srgbClr val="FDFCF9"/>
          </a:solidFill>
          <a:ln w="6350">
            <a:solidFill>
              <a:srgbClr val="D9D5C8"/>
            </a:solidFill>
            <a:prstDash val="solid"/>
          </a:ln>
        </p:spPr>
      </p:sp>
      <p:sp>
        <p:nvSpPr>
          <p:cNvPr id="27" name="Text 24"/>
          <p:cNvSpPr/>
          <p:nvPr/>
        </p:nvSpPr>
        <p:spPr>
          <a:xfrm>
            <a:off x="7981950" y="4415334"/>
            <a:ext cx="3309493"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14213D"/>
                </a:solidFill>
                <a:latin typeface="Source Serif 4" pitchFamily="18" charset="0"/>
                <a:ea typeface="Source Serif 4" pitchFamily="18" charset="-122"/>
                <a:cs typeface="Source Serif 4" pitchFamily="18" charset="-120"/>
              </a:rPr>
              <a:t>5.86%</a:t>
            </a:r>
            <a:endParaRPr lang="en-US" sz="3200" dirty="0"/>
          </a:p>
        </p:txBody>
      </p:sp>
      <p:sp>
        <p:nvSpPr>
          <p:cNvPr id="28" name="Text 25"/>
          <p:cNvSpPr/>
          <p:nvPr/>
        </p:nvSpPr>
        <p:spPr>
          <a:xfrm>
            <a:off x="7981950" y="4867424"/>
            <a:ext cx="330949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summed C4+C5 reduction over 390 usable pairs; no savings for infeasible baselines</a:t>
            </a:r>
            <a:endParaRPr lang="en-US" sz="1200" dirty="0"/>
          </a:p>
        </p:txBody>
      </p:sp>
      <p:sp>
        <p:nvSpPr>
          <p:cNvPr id="29" name="Text 26"/>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Source: original Stage-2 analysis · absolute 1e-8 USD objective agreement · commit 80a9625.</a:t>
            </a:r>
            <a:endParaRPr lang="en-US" sz="1200" dirty="0"/>
          </a:p>
        </p:txBody>
      </p:sp>
      <p:sp>
        <p:nvSpPr>
          <p:cNvPr id="30" name="Text 2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17 / 21</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81A"/>
                </a:solidFill>
                <a:latin typeface="IBM Plex Sans" pitchFamily="34" charset="0"/>
                <a:ea typeface="IBM Plex Sans" pitchFamily="34" charset="-122"/>
                <a:cs typeface="IBM Plex Sans" pitchFamily="34" charset="-120"/>
              </a:rPr>
              <a:t>APPENDIX A5 · RETROSPECTIVE POLICY REPLAY</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Same decisions, optional relative tolerance</a:t>
            </a:r>
            <a:endParaRPr lang="en-US" sz="3000" dirty="0"/>
          </a:p>
        </p:txBody>
      </p:sp>
      <p:sp>
        <p:nvSpPr>
          <p:cNvPr id="4" name="Shape 2"/>
          <p:cNvSpPr/>
          <p:nvPr/>
        </p:nvSpPr>
        <p:spPr>
          <a:xfrm>
            <a:off x="815975" y="1753195"/>
            <a:ext cx="6978650" cy="1906141"/>
          </a:xfrm>
          <a:prstGeom prst="roundRect">
            <a:avLst>
              <a:gd name="adj" fmla="val 5164"/>
            </a:avLst>
          </a:prstGeom>
          <a:solidFill>
            <a:srgbClr val="FDFCF9"/>
          </a:solidFill>
          <a:ln w="6350">
            <a:solidFill>
              <a:srgbClr val="D9D5C8"/>
            </a:solidFill>
            <a:prstDash val="solid"/>
          </a:ln>
        </p:spPr>
      </p:sp>
      <p:sp>
        <p:nvSpPr>
          <p:cNvPr id="5" name="Text 3"/>
          <p:cNvSpPr/>
          <p:nvPr/>
        </p:nvSpPr>
        <p:spPr>
          <a:xfrm>
            <a:off x="1022350" y="1959570"/>
            <a:ext cx="676287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1A6"/>
                </a:solidFill>
                <a:latin typeface="IBM Plex Sans" pitchFamily="34" charset="0"/>
                <a:ea typeface="IBM Plex Sans" pitchFamily="34" charset="-122"/>
                <a:cs typeface="IBM Plex Sans" pitchFamily="34" charset="-120"/>
              </a:rPr>
              <a:t>USABLE ATTEMPTS OUT OF 1,850</a:t>
            </a:r>
            <a:endParaRPr lang="en-US" sz="1200" dirty="0"/>
          </a:p>
        </p:txBody>
      </p:sp>
      <p:sp>
        <p:nvSpPr>
          <p:cNvPr id="6" name="Text 4"/>
          <p:cNvSpPr/>
          <p:nvPr/>
        </p:nvSpPr>
        <p:spPr>
          <a:xfrm>
            <a:off x="1022350" y="2315121"/>
            <a:ext cx="24384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Absolute 1e-8 USD (default)</a:t>
            </a:r>
            <a:endParaRPr lang="en-US" sz="1400" dirty="0"/>
          </a:p>
        </p:txBody>
      </p:sp>
      <p:sp>
        <p:nvSpPr>
          <p:cNvPr id="7" name="Shape 5"/>
          <p:cNvSpPr/>
          <p:nvPr/>
        </p:nvSpPr>
        <p:spPr>
          <a:xfrm>
            <a:off x="3460750" y="2299891"/>
            <a:ext cx="2895600" cy="279400"/>
          </a:xfrm>
          <a:prstGeom prst="rect">
            <a:avLst/>
          </a:prstGeom>
          <a:solidFill>
            <a:srgbClr val="8A94A6"/>
          </a:solidFill>
          <a:ln/>
        </p:spPr>
      </p:sp>
      <p:sp>
        <p:nvSpPr>
          <p:cNvPr id="8" name="Text 6"/>
          <p:cNvSpPr/>
          <p:nvPr/>
        </p:nvSpPr>
        <p:spPr>
          <a:xfrm>
            <a:off x="6508750" y="2315121"/>
            <a:ext cx="38409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646</a:t>
            </a:r>
            <a:endParaRPr lang="en-US" sz="1400" dirty="0"/>
          </a:p>
        </p:txBody>
      </p:sp>
      <p:sp>
        <p:nvSpPr>
          <p:cNvPr id="9" name="Text 7"/>
          <p:cNvSpPr/>
          <p:nvPr/>
        </p:nvSpPr>
        <p:spPr>
          <a:xfrm>
            <a:off x="1022350" y="2955181"/>
            <a:ext cx="235458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Opt-in relative 1e-12</a:t>
            </a:r>
            <a:endParaRPr lang="en-US" sz="1400" dirty="0"/>
          </a:p>
        </p:txBody>
      </p:sp>
      <p:sp>
        <p:nvSpPr>
          <p:cNvPr id="10" name="Shape 8"/>
          <p:cNvSpPr/>
          <p:nvPr/>
        </p:nvSpPr>
        <p:spPr>
          <a:xfrm>
            <a:off x="3460750" y="2939901"/>
            <a:ext cx="3810000" cy="279400"/>
          </a:xfrm>
          <a:prstGeom prst="rect">
            <a:avLst/>
          </a:prstGeom>
          <a:solidFill>
            <a:srgbClr val="2561A6"/>
          </a:solidFill>
          <a:ln/>
        </p:spPr>
      </p:sp>
      <p:sp>
        <p:nvSpPr>
          <p:cNvPr id="11" name="Text 9"/>
          <p:cNvSpPr/>
          <p:nvPr/>
        </p:nvSpPr>
        <p:spPr>
          <a:xfrm>
            <a:off x="7423150" y="2706291"/>
            <a:ext cx="215900" cy="77207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850</a:t>
            </a:r>
            <a:endParaRPr lang="en-US" sz="1400" dirty="0"/>
          </a:p>
        </p:txBody>
      </p:sp>
      <p:sp>
        <p:nvSpPr>
          <p:cNvPr id="12" name="Shape 10"/>
          <p:cNvSpPr/>
          <p:nvPr/>
        </p:nvSpPr>
        <p:spPr>
          <a:xfrm>
            <a:off x="812800" y="3789511"/>
            <a:ext cx="6985000" cy="1017091"/>
          </a:xfrm>
          <a:prstGeom prst="rect">
            <a:avLst/>
          </a:prstGeom>
          <a:solidFill>
            <a:srgbClr val="FDFCF9"/>
          </a:solidFill>
          <a:ln/>
        </p:spPr>
      </p:sp>
      <p:sp>
        <p:nvSpPr>
          <p:cNvPr id="13" name="Shape 11"/>
          <p:cNvSpPr/>
          <p:nvPr/>
        </p:nvSpPr>
        <p:spPr>
          <a:xfrm>
            <a:off x="7794625" y="3789511"/>
            <a:ext cx="0" cy="1017091"/>
          </a:xfrm>
          <a:prstGeom prst="line">
            <a:avLst/>
          </a:prstGeom>
          <a:noFill/>
          <a:ln w="6350">
            <a:solidFill>
              <a:srgbClr val="D9D5C8"/>
            </a:solidFill>
            <a:prstDash val="solid"/>
          </a:ln>
        </p:spPr>
      </p:sp>
      <p:sp>
        <p:nvSpPr>
          <p:cNvPr id="14" name="Shape 12"/>
          <p:cNvSpPr/>
          <p:nvPr/>
        </p:nvSpPr>
        <p:spPr>
          <a:xfrm>
            <a:off x="812800" y="4803428"/>
            <a:ext cx="6985000" cy="0"/>
          </a:xfrm>
          <a:prstGeom prst="line">
            <a:avLst/>
          </a:prstGeom>
          <a:noFill/>
          <a:ln w="6350">
            <a:solidFill>
              <a:srgbClr val="D9D5C8"/>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25500" y="3802211"/>
          <a:ext cx="6965950" cy="998041"/>
        </p:xfrm>
        <a:graphic>
          <a:graphicData uri="http://schemas.openxmlformats.org/drawingml/2006/table">
            <a:tbl>
              <a:tblPr/>
              <a:tblGrid>
                <a:gridCol w="1950466"/>
                <a:gridCol w="1532509"/>
                <a:gridCol w="3482975"/>
              </a:tblGrid>
              <a:tr h="332680">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Policy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Recovered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C4+C5 reduction, 95% CI (usable pairs)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Absolute default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256/1,344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5.86% [5.18, 6.12] (390)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Opt-in relative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344/1,344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5.96% [5.75, 6.06] (506)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bl>
          </a:graphicData>
        </a:graphic>
      </p:graphicFrame>
      <p:sp>
        <p:nvSpPr>
          <p:cNvPr id="16" name="Text 13"/>
          <p:cNvSpPr/>
          <p:nvPr/>
        </p:nvSpPr>
        <p:spPr>
          <a:xfrm>
            <a:off x="812800" y="4933603"/>
            <a:ext cx="71945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Rule |a−b| ≤ max(abs_tol, rel_tol·max(|a|,|b|)). No LP solved, no decision repaired; defaults unchanged. Different cohorts: not a causal policy benefit.</a:t>
            </a:r>
            <a:endParaRPr lang="en-US" sz="1200" dirty="0"/>
          </a:p>
        </p:txBody>
      </p:sp>
      <p:sp>
        <p:nvSpPr>
          <p:cNvPr id="17" name="Shape 14"/>
          <p:cNvSpPr/>
          <p:nvPr/>
        </p:nvSpPr>
        <p:spPr>
          <a:xfrm>
            <a:off x="8051800" y="1750020"/>
            <a:ext cx="3327400" cy="1183531"/>
          </a:xfrm>
          <a:prstGeom prst="roundRect">
            <a:avLst>
              <a:gd name="adj" fmla="val 8584"/>
            </a:avLst>
          </a:prstGeom>
          <a:solidFill>
            <a:srgbClr val="14213D"/>
          </a:solidFill>
          <a:ln/>
        </p:spPr>
      </p:sp>
      <p:sp>
        <p:nvSpPr>
          <p:cNvPr id="18" name="Text 15"/>
          <p:cNvSpPr/>
          <p:nvPr/>
        </p:nvSpPr>
        <p:spPr>
          <a:xfrm>
            <a:off x="8229600" y="1902420"/>
            <a:ext cx="3060954"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F6F4EE"/>
                </a:solidFill>
                <a:latin typeface="Source Serif 4" pitchFamily="18" charset="0"/>
                <a:ea typeface="Source Serif 4" pitchFamily="18" charset="-122"/>
                <a:cs typeface="Source Serif 4" pitchFamily="18" charset="-120"/>
              </a:rPr>
              <a:t>204/204</a:t>
            </a:r>
            <a:endParaRPr lang="en-US" sz="3200" dirty="0"/>
          </a:p>
        </p:txBody>
      </p:sp>
      <p:sp>
        <p:nvSpPr>
          <p:cNvPr id="19" name="Text 16"/>
          <p:cNvSpPr/>
          <p:nvPr/>
        </p:nvSpPr>
        <p:spPr>
          <a:xfrm>
            <a:off x="8229600" y="2354511"/>
            <a:ext cx="30609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objective-only rejections accepted: 1–3 floating-point spacings apart</a:t>
            </a:r>
            <a:endParaRPr lang="en-US" sz="1200" dirty="0"/>
          </a:p>
        </p:txBody>
      </p:sp>
      <p:sp>
        <p:nvSpPr>
          <p:cNvPr id="20" name="Shape 17"/>
          <p:cNvSpPr/>
          <p:nvPr/>
        </p:nvSpPr>
        <p:spPr>
          <a:xfrm>
            <a:off x="8054975" y="3038326"/>
            <a:ext cx="3321050" cy="976561"/>
          </a:xfrm>
          <a:prstGeom prst="roundRect">
            <a:avLst>
              <a:gd name="adj" fmla="val 10079"/>
            </a:avLst>
          </a:prstGeom>
          <a:solidFill>
            <a:srgbClr val="FDFCF9"/>
          </a:solidFill>
          <a:ln w="6350">
            <a:solidFill>
              <a:srgbClr val="D9D5C8"/>
            </a:solidFill>
            <a:prstDash val="solid"/>
          </a:ln>
        </p:spPr>
      </p:sp>
      <p:sp>
        <p:nvSpPr>
          <p:cNvPr id="21" name="Text 18"/>
          <p:cNvSpPr/>
          <p:nvPr/>
        </p:nvSpPr>
        <p:spPr>
          <a:xfrm>
            <a:off x="8235950" y="3193901"/>
            <a:ext cx="3047873"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14213D"/>
                </a:solidFill>
                <a:latin typeface="Source Serif 4" pitchFamily="18" charset="0"/>
                <a:ea typeface="Source Serif 4" pitchFamily="18" charset="-122"/>
                <a:cs typeface="Source Serif 4" pitchFamily="18" charset="-120"/>
              </a:rPr>
              <a:t>1,000</a:t>
            </a:r>
            <a:endParaRPr lang="en-US" sz="3200" dirty="0"/>
          </a:p>
        </p:txBody>
      </p:sp>
      <p:sp>
        <p:nvSpPr>
          <p:cNvPr id="22" name="Text 19"/>
          <p:cNvSpPr/>
          <p:nvPr/>
        </p:nvSpPr>
        <p:spPr>
          <a:xfrm>
            <a:off x="8235950" y="3645991"/>
            <a:ext cx="30478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solver-infeasible attempts still rejected</a:t>
            </a:r>
            <a:endParaRPr lang="en-US" sz="1200" dirty="0"/>
          </a:p>
        </p:txBody>
      </p:sp>
      <p:sp>
        <p:nvSpPr>
          <p:cNvPr id="23" name="Shape 20"/>
          <p:cNvSpPr/>
          <p:nvPr/>
        </p:nvSpPr>
        <p:spPr>
          <a:xfrm>
            <a:off x="8054975" y="4122837"/>
            <a:ext cx="3321050" cy="1234232"/>
          </a:xfrm>
          <a:prstGeom prst="roundRect">
            <a:avLst>
              <a:gd name="adj" fmla="val 7975"/>
            </a:avLst>
          </a:prstGeom>
          <a:solidFill>
            <a:srgbClr val="FDFCF9"/>
          </a:solidFill>
          <a:ln w="6350">
            <a:solidFill>
              <a:srgbClr val="D9D5C8"/>
            </a:solidFill>
            <a:prstDash val="solid"/>
          </a:ln>
        </p:spPr>
      </p:sp>
      <p:sp>
        <p:nvSpPr>
          <p:cNvPr id="24" name="Text 21"/>
          <p:cNvSpPr/>
          <p:nvPr/>
        </p:nvSpPr>
        <p:spPr>
          <a:xfrm>
            <a:off x="8235950" y="4278412"/>
            <a:ext cx="3047873"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14213D"/>
                </a:solidFill>
                <a:latin typeface="Source Serif 4" pitchFamily="18" charset="0"/>
                <a:ea typeface="Source Serif 4" pitchFamily="18" charset="-122"/>
                <a:cs typeface="Source Serif 4" pitchFamily="18" charset="-120"/>
              </a:rPr>
              <a:t>~2e-6</a:t>
            </a:r>
            <a:endParaRPr lang="en-US" sz="3200" dirty="0"/>
          </a:p>
        </p:txBody>
      </p:sp>
      <p:sp>
        <p:nvSpPr>
          <p:cNvPr id="25" name="Text 22"/>
          <p:cNvSpPr/>
          <p:nvPr/>
        </p:nvSpPr>
        <p:spPr>
          <a:xfrm>
            <a:off x="8235950" y="4730502"/>
            <a:ext cx="304787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injected relative objective error is still rejected</a:t>
            </a:r>
            <a:endParaRPr lang="en-US" sz="1200" dirty="0"/>
          </a:p>
        </p:txBody>
      </p:sp>
      <p:sp>
        <p:nvSpPr>
          <p:cNvPr id="26" name="Text 23"/>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Source: WP3 policy-replay analysis · retrospective, no new solves · commit 80a9625.</a:t>
            </a:r>
            <a:endParaRPr lang="en-US" sz="1200" dirty="0"/>
          </a:p>
        </p:txBody>
      </p:sp>
      <p:sp>
        <p:nvSpPr>
          <p:cNvPr id="27" name="Text 2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18 / 21</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81A"/>
                </a:solidFill>
                <a:latin typeface="IBM Plex Sans" pitchFamily="34" charset="0"/>
                <a:ea typeface="IBM Plex Sans" pitchFamily="34" charset="-122"/>
                <a:cs typeface="IBM Plex Sans" pitchFamily="34" charset="-120"/>
              </a:rPr>
              <a:t>APPENDIX A6 · STAGE 2, NEW CAMPAIGN (OCT 14)</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New matched solves across four loads</a:t>
            </a:r>
            <a:endParaRPr lang="en-US" sz="3000" dirty="0"/>
          </a:p>
        </p:txBody>
      </p:sp>
      <p:sp>
        <p:nvSpPr>
          <p:cNvPr id="4" name="Shape 2"/>
          <p:cNvSpPr/>
          <p:nvPr/>
        </p:nvSpPr>
        <p:spPr>
          <a:xfrm>
            <a:off x="812800" y="1699220"/>
            <a:ext cx="2536825" cy="1038771"/>
          </a:xfrm>
          <a:prstGeom prst="roundRect">
            <a:avLst>
              <a:gd name="adj" fmla="val 9781"/>
            </a:avLst>
          </a:prstGeom>
          <a:solidFill>
            <a:srgbClr val="14213D"/>
          </a:solidFill>
          <a:ln/>
        </p:spPr>
      </p:sp>
      <p:sp>
        <p:nvSpPr>
          <p:cNvPr id="5" name="Text 3"/>
          <p:cNvSpPr/>
          <p:nvPr/>
        </p:nvSpPr>
        <p:spPr>
          <a:xfrm>
            <a:off x="965200" y="1826220"/>
            <a:ext cx="2298986" cy="345430"/>
          </a:xfrm>
          <a:prstGeom prst="rect">
            <a:avLst/>
          </a:prstGeom>
          <a:noFill/>
          <a:ln/>
        </p:spPr>
        <p:txBody>
          <a:bodyPr wrap="square" lIns="0" tIns="0" rIns="0" bIns="0" rtlCol="0" anchor="t">
            <a:normAutofit/>
          </a:bodyPr>
          <a:lstStyle/>
          <a:p>
            <a:pPr algn="l" indent="0" marL="0">
              <a:lnSpc>
                <a:spcPts val="2520"/>
              </a:lnSpc>
              <a:buNone/>
            </a:pPr>
            <a:r>
              <a:rPr lang="en-US" sz="2400" b="1" dirty="0">
                <a:solidFill>
                  <a:srgbClr val="F6F4EE"/>
                </a:solidFill>
                <a:latin typeface="Source Serif 4" pitchFamily="18" charset="0"/>
                <a:ea typeface="Source Serif 4" pitchFamily="18" charset="-122"/>
                <a:cs typeface="Source Serif 4" pitchFamily="18" charset="-120"/>
              </a:rPr>
              <a:t>3,246/6,800</a:t>
            </a:r>
            <a:endParaRPr lang="en-US" sz="2400" dirty="0"/>
          </a:p>
        </p:txBody>
      </p:sp>
      <p:sp>
        <p:nvSpPr>
          <p:cNvPr id="6" name="Text 4"/>
          <p:cNvSpPr/>
          <p:nvPr/>
        </p:nvSpPr>
        <p:spPr>
          <a:xfrm>
            <a:off x="965200" y="2171650"/>
            <a:ext cx="229898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usable LPs; 3,554 solver-infeasible</a:t>
            </a:r>
            <a:endParaRPr lang="en-US" sz="1200" dirty="0"/>
          </a:p>
        </p:txBody>
      </p:sp>
      <p:sp>
        <p:nvSpPr>
          <p:cNvPr id="7" name="Shape 5"/>
          <p:cNvSpPr/>
          <p:nvPr/>
        </p:nvSpPr>
        <p:spPr>
          <a:xfrm>
            <a:off x="3479800" y="1702395"/>
            <a:ext cx="2543175" cy="1032421"/>
          </a:xfrm>
          <a:prstGeom prst="roundRect">
            <a:avLst>
              <a:gd name="adj" fmla="val 9533"/>
            </a:avLst>
          </a:prstGeom>
          <a:solidFill>
            <a:srgbClr val="FDFCF9"/>
          </a:solidFill>
          <a:ln w="6350">
            <a:solidFill>
              <a:srgbClr val="D9D5C8"/>
            </a:solidFill>
            <a:prstDash val="solid"/>
          </a:ln>
        </p:spPr>
      </p:sp>
      <p:sp>
        <p:nvSpPr>
          <p:cNvPr id="8" name="Text 6"/>
          <p:cNvSpPr/>
          <p:nvPr/>
        </p:nvSpPr>
        <p:spPr>
          <a:xfrm>
            <a:off x="3635375" y="1832570"/>
            <a:ext cx="2298986" cy="345430"/>
          </a:xfrm>
          <a:prstGeom prst="rect">
            <a:avLst/>
          </a:prstGeom>
          <a:noFill/>
          <a:ln/>
        </p:spPr>
        <p:txBody>
          <a:bodyPr wrap="square" lIns="0" tIns="0" rIns="0" bIns="0" rtlCol="0" anchor="t">
            <a:normAutofit/>
          </a:bodyPr>
          <a:lstStyle/>
          <a:p>
            <a:pPr algn="l" indent="0" marL="0">
              <a:lnSpc>
                <a:spcPts val="2520"/>
              </a:lnSpc>
              <a:buNone/>
            </a:pPr>
            <a:r>
              <a:rPr lang="en-US" sz="2400" b="1" dirty="0">
                <a:solidFill>
                  <a:srgbClr val="14213D"/>
                </a:solidFill>
                <a:latin typeface="Source Serif 4" pitchFamily="18" charset="0"/>
                <a:ea typeface="Source Serif 4" pitchFamily="18" charset="-122"/>
                <a:cs typeface="Source Serif 4" pitchFamily="18" charset="-120"/>
              </a:rPr>
              <a:t>136/144</a:t>
            </a:r>
            <a:endParaRPr lang="en-US" sz="2400" dirty="0"/>
          </a:p>
        </p:txBody>
      </p:sp>
      <p:sp>
        <p:nvSpPr>
          <p:cNvPr id="9" name="Text 7"/>
          <p:cNvSpPr/>
          <p:nvPr/>
        </p:nvSpPr>
        <p:spPr>
          <a:xfrm>
            <a:off x="3635375" y="2178000"/>
            <a:ext cx="229898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sources accepted, all 144 complete</a:t>
            </a:r>
            <a:endParaRPr lang="en-US" sz="1200" dirty="0"/>
          </a:p>
        </p:txBody>
      </p:sp>
      <p:sp>
        <p:nvSpPr>
          <p:cNvPr id="10" name="Shape 8"/>
          <p:cNvSpPr/>
          <p:nvPr/>
        </p:nvSpPr>
        <p:spPr>
          <a:xfrm>
            <a:off x="6156325" y="1702395"/>
            <a:ext cx="2543175" cy="1032421"/>
          </a:xfrm>
          <a:prstGeom prst="roundRect">
            <a:avLst>
              <a:gd name="adj" fmla="val 9533"/>
            </a:avLst>
          </a:prstGeom>
          <a:solidFill>
            <a:srgbClr val="FDFCF9"/>
          </a:solidFill>
          <a:ln w="6350">
            <a:solidFill>
              <a:srgbClr val="D9D5C8"/>
            </a:solidFill>
            <a:prstDash val="solid"/>
          </a:ln>
        </p:spPr>
      </p:sp>
      <p:sp>
        <p:nvSpPr>
          <p:cNvPr id="11" name="Text 9"/>
          <p:cNvSpPr/>
          <p:nvPr/>
        </p:nvSpPr>
        <p:spPr>
          <a:xfrm>
            <a:off x="6311900" y="1832570"/>
            <a:ext cx="2298986" cy="345430"/>
          </a:xfrm>
          <a:prstGeom prst="rect">
            <a:avLst/>
          </a:prstGeom>
          <a:noFill/>
          <a:ln/>
        </p:spPr>
        <p:txBody>
          <a:bodyPr wrap="square" lIns="0" tIns="0" rIns="0" bIns="0" rtlCol="0" anchor="t">
            <a:normAutofit/>
          </a:bodyPr>
          <a:lstStyle/>
          <a:p>
            <a:pPr algn="l" indent="0" marL="0">
              <a:lnSpc>
                <a:spcPts val="2520"/>
              </a:lnSpc>
              <a:buNone/>
            </a:pPr>
            <a:r>
              <a:rPr lang="en-US" sz="2400" b="1" dirty="0">
                <a:solidFill>
                  <a:srgbClr val="14213D"/>
                </a:solidFill>
                <a:latin typeface="Source Serif 4" pitchFamily="18" charset="0"/>
                <a:ea typeface="Source Serif 4" pitchFamily="18" charset="-122"/>
                <a:cs typeface="Source Serif 4" pitchFamily="18" charset="-120"/>
              </a:rPr>
              <a:t>400</a:t>
            </a:r>
            <a:endParaRPr lang="en-US" sz="2400" dirty="0"/>
          </a:p>
        </p:txBody>
      </p:sp>
      <p:sp>
        <p:nvSpPr>
          <p:cNvPr id="12" name="Text 10"/>
          <p:cNvSpPr/>
          <p:nvPr/>
        </p:nvSpPr>
        <p:spPr>
          <a:xfrm>
            <a:off x="6311900" y="2178000"/>
            <a:ext cx="229898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planned LPs unattempted: 8 rejected P_DM sources</a:t>
            </a:r>
            <a:endParaRPr lang="en-US" sz="1200" dirty="0"/>
          </a:p>
        </p:txBody>
      </p:sp>
      <p:sp>
        <p:nvSpPr>
          <p:cNvPr id="13" name="Shape 11"/>
          <p:cNvSpPr/>
          <p:nvPr/>
        </p:nvSpPr>
        <p:spPr>
          <a:xfrm>
            <a:off x="8832850" y="1702395"/>
            <a:ext cx="2543175" cy="1032421"/>
          </a:xfrm>
          <a:prstGeom prst="roundRect">
            <a:avLst>
              <a:gd name="adj" fmla="val 9533"/>
            </a:avLst>
          </a:prstGeom>
          <a:solidFill>
            <a:srgbClr val="FDFCF9"/>
          </a:solidFill>
          <a:ln w="6350">
            <a:solidFill>
              <a:srgbClr val="D9D5C8"/>
            </a:solidFill>
            <a:prstDash val="solid"/>
          </a:ln>
        </p:spPr>
      </p:sp>
      <p:sp>
        <p:nvSpPr>
          <p:cNvPr id="14" name="Text 12"/>
          <p:cNvSpPr/>
          <p:nvPr/>
        </p:nvSpPr>
        <p:spPr>
          <a:xfrm>
            <a:off x="8988425" y="1832570"/>
            <a:ext cx="2298986" cy="345430"/>
          </a:xfrm>
          <a:prstGeom prst="rect">
            <a:avLst/>
          </a:prstGeom>
          <a:noFill/>
          <a:ln/>
        </p:spPr>
        <p:txBody>
          <a:bodyPr wrap="square" lIns="0" tIns="0" rIns="0" bIns="0" rtlCol="0" anchor="t">
            <a:normAutofit/>
          </a:bodyPr>
          <a:lstStyle/>
          <a:p>
            <a:pPr algn="l" indent="0" marL="0">
              <a:lnSpc>
                <a:spcPts val="2520"/>
              </a:lnSpc>
              <a:buNone/>
            </a:pPr>
            <a:r>
              <a:rPr lang="en-US" sz="2400" b="1" dirty="0">
                <a:solidFill>
                  <a:srgbClr val="14213D"/>
                </a:solidFill>
                <a:latin typeface="Source Serif 4" pitchFamily="18" charset="0"/>
                <a:ea typeface="Source Serif 4" pitchFamily="18" charset="-122"/>
                <a:cs typeface="Source Serif 4" pitchFamily="18" charset="-120"/>
              </a:rPr>
              <a:t>40/48</a:t>
            </a:r>
            <a:endParaRPr lang="en-US" sz="2400" dirty="0"/>
          </a:p>
        </p:txBody>
      </p:sp>
      <p:sp>
        <p:nvSpPr>
          <p:cNvPr id="15" name="Text 13"/>
          <p:cNvSpPr/>
          <p:nvPr/>
        </p:nvSpPr>
        <p:spPr>
          <a:xfrm>
            <a:off x="8988425" y="2178000"/>
            <a:ext cx="229898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inputs accepted for all methods: no ranking</a:t>
            </a:r>
            <a:endParaRPr lang="en-US" sz="1200" dirty="0"/>
          </a:p>
        </p:txBody>
      </p:sp>
      <p:sp>
        <p:nvSpPr>
          <p:cNvPr id="16" name="Shape 14"/>
          <p:cNvSpPr/>
          <p:nvPr/>
        </p:nvSpPr>
        <p:spPr>
          <a:xfrm>
            <a:off x="812800" y="2915791"/>
            <a:ext cx="10566400" cy="1815654"/>
          </a:xfrm>
          <a:prstGeom prst="rect">
            <a:avLst/>
          </a:prstGeom>
          <a:solidFill>
            <a:srgbClr val="FDFCF9"/>
          </a:solidFill>
          <a:ln/>
        </p:spPr>
      </p:sp>
      <p:sp>
        <p:nvSpPr>
          <p:cNvPr id="17" name="Shape 15"/>
          <p:cNvSpPr/>
          <p:nvPr/>
        </p:nvSpPr>
        <p:spPr>
          <a:xfrm>
            <a:off x="11376025" y="2915791"/>
            <a:ext cx="0" cy="1815654"/>
          </a:xfrm>
          <a:prstGeom prst="line">
            <a:avLst/>
          </a:prstGeom>
          <a:noFill/>
          <a:ln w="6350">
            <a:solidFill>
              <a:srgbClr val="D9D5C8"/>
            </a:solidFill>
            <a:prstDash val="solid"/>
          </a:ln>
        </p:spPr>
      </p:sp>
      <p:sp>
        <p:nvSpPr>
          <p:cNvPr id="18" name="Shape 16"/>
          <p:cNvSpPr/>
          <p:nvPr/>
        </p:nvSpPr>
        <p:spPr>
          <a:xfrm>
            <a:off x="812800" y="4728270"/>
            <a:ext cx="10566400" cy="0"/>
          </a:xfrm>
          <a:prstGeom prst="line">
            <a:avLst/>
          </a:prstGeom>
          <a:noFill/>
          <a:ln w="6350">
            <a:solidFill>
              <a:srgbClr val="D9D5C8"/>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25500" y="2928491"/>
          <a:ext cx="10547350" cy="1796604"/>
        </p:xfrm>
        <a:graphic>
          <a:graphicData uri="http://schemas.openxmlformats.org/drawingml/2006/table">
            <a:tbl>
              <a:tblPr/>
              <a:tblGrid>
                <a:gridCol w="1898523"/>
                <a:gridCol w="3164205"/>
                <a:gridCol w="2109470"/>
                <a:gridCol w="3375152"/>
              </a:tblGrid>
              <a:tr h="359321">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Nominal load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Recovered / frozen failures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Usable cost pairs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C4+C5 reduction, 95% CI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330/1,260 (26.19%)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540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4.95% [4.64, 5.18]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2,000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280/1,260 (22.22%)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540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4.92% [4.63, 5.15]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20,000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400/1,220 (32.79%)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530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5.16% [4.73, 5.53]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100,000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311/1,135 (27.40%)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315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5.43% [4.98, 5.87]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bl>
          </a:graphicData>
        </a:graphic>
      </p:graphicFrame>
      <p:sp>
        <p:nvSpPr>
          <p:cNvPr id="20" name="Text 17"/>
          <p:cNvSpPr/>
          <p:nvPr/>
        </p:nvSpPr>
        <p:spPr>
          <a:xfrm>
            <a:off x="812800" y="4909245"/>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Explicit relative objective tolerance 1e-12, HiGHS, 20 s limits. Reduction = (Σ frozen − Σ adapted) / Σ frozen on identical usable pairs; infeasible baselines get no savings, and lower modeled cost may come with more unmet demand.</a:t>
            </a:r>
            <a:endParaRPr lang="en-US" sz="1200" dirty="0"/>
          </a:p>
        </p:txBody>
      </p:sp>
      <p:sp>
        <p:nvSpPr>
          <p:cNvPr id="21" name="Text 18"/>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Source: WP4 Stage-2 analysis · 12 input clusters per load · conditional synthetic grid · commit 80a9625.</a:t>
            </a:r>
            <a:endParaRPr lang="en-US" sz="1200" dirty="0"/>
          </a:p>
        </p:txBody>
      </p:sp>
      <p:sp>
        <p:nvSpPr>
          <p:cNvPr id="22" name="Text 1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19 / 21</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81A"/>
                </a:solidFill>
                <a:latin typeface="IBM Plex Sans" pitchFamily="34" charset="0"/>
                <a:ea typeface="IBM Plex Sans" pitchFamily="34" charset="-122"/>
                <a:cs typeface="IBM Plex Sans" pitchFamily="34" charset="-120"/>
              </a:rPr>
              <a:t>APPENDIX A7 · EVIDENCE SETS</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Earlier results keep their own scope</a:t>
            </a:r>
            <a:endParaRPr lang="en-US" sz="3000" dirty="0"/>
          </a:p>
        </p:txBody>
      </p:sp>
      <p:sp>
        <p:nvSpPr>
          <p:cNvPr id="4" name="Shape 2"/>
          <p:cNvSpPr/>
          <p:nvPr/>
        </p:nvSpPr>
        <p:spPr>
          <a:xfrm>
            <a:off x="812800" y="1750020"/>
            <a:ext cx="10566400" cy="3013174"/>
          </a:xfrm>
          <a:prstGeom prst="rect">
            <a:avLst/>
          </a:prstGeom>
          <a:solidFill>
            <a:srgbClr val="FDFCF9"/>
          </a:solidFill>
          <a:ln/>
        </p:spPr>
      </p:sp>
      <p:sp>
        <p:nvSpPr>
          <p:cNvPr id="5" name="Shape 3"/>
          <p:cNvSpPr/>
          <p:nvPr/>
        </p:nvSpPr>
        <p:spPr>
          <a:xfrm>
            <a:off x="11376025" y="1750020"/>
            <a:ext cx="0" cy="3013174"/>
          </a:xfrm>
          <a:prstGeom prst="line">
            <a:avLst/>
          </a:prstGeom>
          <a:noFill/>
          <a:ln w="6350">
            <a:solidFill>
              <a:srgbClr val="D9D5C8"/>
            </a:solidFill>
            <a:prstDash val="solid"/>
          </a:ln>
        </p:spPr>
      </p:sp>
      <p:sp>
        <p:nvSpPr>
          <p:cNvPr id="6" name="Shape 4"/>
          <p:cNvSpPr/>
          <p:nvPr/>
        </p:nvSpPr>
        <p:spPr>
          <a:xfrm>
            <a:off x="812800" y="4760020"/>
            <a:ext cx="10566400" cy="0"/>
          </a:xfrm>
          <a:prstGeom prst="line">
            <a:avLst/>
          </a:prstGeom>
          <a:noFill/>
          <a:ln w="6350">
            <a:solidFill>
              <a:srgbClr val="D9D5C8"/>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762720"/>
          <a:ext cx="10547350" cy="2994124"/>
        </p:xfrm>
        <a:graphic>
          <a:graphicData uri="http://schemas.openxmlformats.org/drawingml/2006/table">
            <a:tbl>
              <a:tblPr/>
              <a:tblGrid>
                <a:gridCol w="2847785"/>
                <a:gridCol w="3480625"/>
                <a:gridCol w="4218940"/>
              </a:tblGrid>
              <a:tr h="332680">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Evidence set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Headline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Why it stays separate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Release parity suite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63/63 checks · 3,023 values bitwise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Bounded fixture suite: 48 placement, 15 shuffle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Full comparisons, Oct 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16 comparisons · 185,832 values bitwise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Two AGH MemoryError points: final-decision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Cross-platform timing, Oct 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103.93× AGH 16×4×4, load 200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Windows Python vs WSL C++, different timers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OpenMP campaign, Oct 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4.20× core · 2.27× invocation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18 rounds; not combined with the 30-round study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OpenMP 16-case, Oct 11–12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5.16× core, 16 large AGH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Minima of three rounds, different batch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Allocation quality, Oct 11–12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AGH vs GH rental C1: 9 → 8 USD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C1 −11.1%; total score only 0.087–0.278%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Validator probe, Oct 11–12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Parallel validator slower than serial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Negative result kept; validation stays serial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Checkpoint 543ad4e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1,131 Python tests; ASan/UBSan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Development tree; public tree omits one module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bl>
          </a:graphicData>
        </a:graphic>
      </p:graphicFrame>
      <p:sp>
        <p:nvSpPr>
          <p:cNvPr id="8" name="Text 5"/>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Sources: docs/RESULTS.md, PERFORMANCE.md, VALIDATION.md, KEY_NUMBERS.md · commit 80a9625.</a:t>
            </a:r>
            <a:endParaRPr lang="en-US" sz="1200" dirty="0"/>
          </a:p>
        </p:txBody>
      </p:sp>
      <p:sp>
        <p:nvSpPr>
          <p:cNvPr id="9" name="Text 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20 / 21</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81A"/>
                </a:solidFill>
                <a:latin typeface="IBM Plex Sans" pitchFamily="34" charset="0"/>
                <a:ea typeface="IBM Plex Sans" pitchFamily="34" charset="-122"/>
                <a:cs typeface="IBM Plex Sans" pitchFamily="34" charset="-120"/>
              </a:rPr>
              <a:t>APPENDIX A8 · SOURCES</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Source Serif 4" pitchFamily="18" charset="0"/>
                <a:ea typeface="Source Serif 4" pitchFamily="18" charset="-122"/>
                <a:cs typeface="Source Serif 4" pitchFamily="18" charset="-120"/>
              </a:rPr>
              <a:t>Claim-to-source table</a:t>
            </a:r>
            <a:endParaRPr lang="en-US" sz="3000" dirty="0"/>
          </a:p>
        </p:txBody>
      </p:sp>
      <p:sp>
        <p:nvSpPr>
          <p:cNvPr id="4" name="Text 2"/>
          <p:cNvSpPr/>
          <p:nvPr/>
        </p:nvSpPr>
        <p:spPr>
          <a:xfrm>
            <a:off x="812800" y="169922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Paths under benchmarks/ at public commit 80a9625ab62a3c5c70ede7a9dae97a61158e250a; its numerical payload matches checkpoint 543ad4e.</a:t>
            </a:r>
            <a:endParaRPr lang="en-US" sz="1200" dirty="0"/>
          </a:p>
        </p:txBody>
      </p:sp>
      <p:sp>
        <p:nvSpPr>
          <p:cNvPr id="5" name="Shape 3"/>
          <p:cNvSpPr/>
          <p:nvPr/>
        </p:nvSpPr>
        <p:spPr>
          <a:xfrm>
            <a:off x="812800" y="2090341"/>
            <a:ext cx="10566400" cy="3013174"/>
          </a:xfrm>
          <a:prstGeom prst="rect">
            <a:avLst/>
          </a:prstGeom>
          <a:solidFill>
            <a:srgbClr val="FDFCF9"/>
          </a:solidFill>
          <a:ln/>
        </p:spPr>
      </p:sp>
      <p:sp>
        <p:nvSpPr>
          <p:cNvPr id="6" name="Shape 4"/>
          <p:cNvSpPr/>
          <p:nvPr/>
        </p:nvSpPr>
        <p:spPr>
          <a:xfrm>
            <a:off x="11376025" y="2090341"/>
            <a:ext cx="0" cy="3013174"/>
          </a:xfrm>
          <a:prstGeom prst="line">
            <a:avLst/>
          </a:prstGeom>
          <a:noFill/>
          <a:ln w="6350">
            <a:solidFill>
              <a:srgbClr val="D9D5C8"/>
            </a:solidFill>
            <a:prstDash val="solid"/>
          </a:ln>
        </p:spPr>
      </p:sp>
      <p:sp>
        <p:nvSpPr>
          <p:cNvPr id="7" name="Shape 5"/>
          <p:cNvSpPr/>
          <p:nvPr/>
        </p:nvSpPr>
        <p:spPr>
          <a:xfrm>
            <a:off x="812800" y="5100340"/>
            <a:ext cx="10566400" cy="0"/>
          </a:xfrm>
          <a:prstGeom prst="line">
            <a:avLst/>
          </a:prstGeom>
          <a:noFill/>
          <a:ln w="6350">
            <a:solidFill>
              <a:srgbClr val="D9D5C8"/>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2103041"/>
          <a:ext cx="10547350" cy="2994124"/>
        </p:xfrm>
        <a:graphic>
          <a:graphicData uri="http://schemas.openxmlformats.org/drawingml/2006/table">
            <a:tbl>
              <a:tblPr/>
              <a:tblGrid>
                <a:gridCol w="2109470"/>
                <a:gridCol w="4640834"/>
                <a:gridCol w="3797046"/>
              </a:tblGrid>
              <a:tr h="332680">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Study (slides)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Artifact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Selector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Release parity (7)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portfolio/raw/serial/parity.json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passed, total; Σ compared_numeric_values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WP1 runtime (8)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matched_runtime_2026-10-14/analysis/analysis.json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case 16x4x4_load200_agh; core, invocation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WP5 scaling (9, A2)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instance_scaling_2026-10-14/analysis/analysis.json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fits: family query/menu, method gh/agh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WP2 OpenMP (10, 11)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openmp_diagnostics_2026-10-14/analysis/extension.json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key 8_cores_close_dynamic_1_False_None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WP6 solver (A3)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solver_quality_2026-10-14/analysis.json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rows 10x10x10_L1_agh, _highs_20/120/600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Stage 2, Oct 13 (A4)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stage2_stress_2026-10-13/analysis/analysis.json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overall: status counts, recovery, pairs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WP3 replay (A5)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stage2_policy_2026-10-14/analysis.json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old_policy, selected_policy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WP4 Stage 2 (A6)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stage2_robustness_2026-10-14/analysis.json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sources, status_counts, by_load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bl>
          </a:graphicData>
        </a:graphic>
      </p:graphicFrame>
      <p:sp>
        <p:nvSpPr>
          <p:cNvPr id="9" name="Text 6"/>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Replay commands: docs/KEY_NUMBERS.md · interpretation: EXTENSION_REPORT.md, MODEL.md, ARCHITECTURE.md, VALIDATION.md.</a:t>
            </a:r>
            <a:endParaRPr lang="en-US" sz="1200" dirty="0"/>
          </a:p>
        </p:txBody>
      </p:sp>
      <p:sp>
        <p:nvSpPr>
          <p:cNvPr id="10" name="Text 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21 / 21</a:t>
            </a:r>
            <a:endParaRPr lang="en-US" sz="1200" dirty="0"/>
          </a:p>
        </p:txBody>
      </p:sp>
    </p:spTree>
  </p:cSld>
  <p:clrMapOvr>
    <a:masterClrMapping/>
  </p:clrMapOvr>
</p:sld>
</file>

<file path=ppt/theme/theme1.xml><?xml version="1.0" encoding="utf-8"?>
<a:theme xmlns:a="http://schemas.openxmlformats.org/drawingml/2006/main" name="LLM Resource Allocation: a verified reference and CPU performance study">
  <a:themeElements>
    <a:clrScheme name="LLM Resource Allocation: a verified reference and CPU performance study">
      <a:dk1>
        <a:srgbClr val="14213D"/>
      </a:dk1>
      <a:lt1>
        <a:srgbClr val="F6F4EE"/>
      </a:lt1>
      <a:dk2>
        <a:srgbClr val="4D5669"/>
      </a:dk2>
      <a:lt2>
        <a:srgbClr val="DFDFDC"/>
      </a:lt2>
      <a:accent1>
        <a:srgbClr val="2561A6"/>
      </a:accent1>
      <a:accent2>
        <a:srgbClr val="B8481A"/>
      </a:accent2>
      <a:accent3>
        <a:srgbClr val="F2A27A"/>
      </a:accent3>
      <a:accent4>
        <a:srgbClr val="8F3512"/>
      </a:accent4>
      <a:accent5>
        <a:srgbClr val="4A5568"/>
      </a:accent5>
      <a:accent6>
        <a:srgbClr val="5B6472"/>
      </a:accent6>
      <a:hlink>
        <a:srgbClr val="0563C1"/>
      </a:hlink>
      <a:folHlink>
        <a:srgbClr val="954F72"/>
      </a:folHlink>
    </a:clrScheme>
    <a:fontScheme name="LLM Resource Allocation: a verified reference and CPU performance study">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Resource Allocation: a verified reference and CPU performance study</dc:title>
  <dc:subject/>
  <dc:creator/>
  <cp:lastModifiedBy/>
  <cp:revision>1</cp:revision>
  <dcterms:created xsi:type="dcterms:W3CDTF">2026-10-15T02:36:54Z</dcterms:created>
  <dcterms:modified xsi:type="dcterms:W3CDTF">2026-10-15T02:36:54Z</dcterms:modified>
</cp:coreProperties>
</file>